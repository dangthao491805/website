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7556500" cy="10693400"/>
  <p:notesSz cx="6858000" cy="9144000"/>
  <p:embeddedFontLst>
    <p:embeddedFont>
      <p:font typeface="Helvetica World" charset="1" panose="020B0500040000020004"/>
      <p:regular r:id="rId28"/>
    </p:embeddedFont>
    <p:embeddedFont>
      <p:font typeface="Montserrat" charset="1" panose="00000500000000000000"/>
      <p:regular r:id="rId29"/>
    </p:embeddedFont>
    <p:embeddedFont>
      <p:font typeface="Montserrat Bold" charset="1" panose="00000800000000000000"/>
      <p:regular r:id="rId30"/>
    </p:embeddedFont>
    <p:embeddedFont>
      <p:font typeface="Helvetica World Bold" charset="1" panose="020B0800040000020004"/>
      <p:regular r:id="rId31"/>
    </p:embeddedFont>
    <p:embeddedFont>
      <p:font typeface="Open Sauce Bold" charset="1" panose="0000080000000000000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4.png" Type="http://schemas.openxmlformats.org/officeDocument/2006/relationships/image"/><Relationship Id="rId4"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8.png" Type="http://schemas.openxmlformats.org/officeDocument/2006/relationships/image"/><Relationship Id="rId4"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4.png" Type="http://schemas.openxmlformats.org/officeDocument/2006/relationships/image"/><Relationship Id="rId4" Target="../media/image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AutoShape 2" id="2"/>
          <p:cNvSpPr/>
          <p:nvPr/>
        </p:nvSpPr>
        <p:spPr>
          <a:xfrm>
            <a:off x="756000" y="9931237"/>
            <a:ext cx="6048000" cy="0"/>
          </a:xfrm>
          <a:prstGeom prst="line">
            <a:avLst/>
          </a:prstGeom>
          <a:ln cap="flat" w="9525">
            <a:solidFill>
              <a:srgbClr val="1D3A72"/>
            </a:solidFill>
            <a:prstDash val="solid"/>
            <a:headEnd type="none" len="sm" w="sm"/>
            <a:tailEnd type="none" len="sm" w="sm"/>
          </a:ln>
        </p:spPr>
      </p:sp>
      <p:sp>
        <p:nvSpPr>
          <p:cNvPr name="TextBox 3" id="3"/>
          <p:cNvSpPr txBox="true"/>
          <p:nvPr/>
        </p:nvSpPr>
        <p:spPr>
          <a:xfrm rot="0">
            <a:off x="4937406" y="10040628"/>
            <a:ext cx="1866594" cy="174624"/>
          </a:xfrm>
          <a:prstGeom prst="rect">
            <a:avLst/>
          </a:prstGeom>
        </p:spPr>
        <p:txBody>
          <a:bodyPr anchor="t" rtlCol="false" tIns="0" lIns="0" bIns="0" rIns="0">
            <a:spAutoFit/>
          </a:bodyPr>
          <a:lstStyle/>
          <a:p>
            <a:pPr algn="r">
              <a:lnSpc>
                <a:spcPts val="1400"/>
              </a:lnSpc>
            </a:pPr>
            <a:r>
              <a:rPr lang="en-US" sz="1000">
                <a:solidFill>
                  <a:srgbClr val="2B2B2B"/>
                </a:solidFill>
                <a:latin typeface="Helvetica World"/>
                <a:ea typeface="Helvetica World"/>
                <a:cs typeface="Helvetica World"/>
                <a:sym typeface="Helvetica World"/>
              </a:rPr>
              <a:t>01</a:t>
            </a:r>
          </a:p>
        </p:txBody>
      </p:sp>
      <p:grpSp>
        <p:nvGrpSpPr>
          <p:cNvPr name="Group 4" id="4"/>
          <p:cNvGrpSpPr/>
          <p:nvPr/>
        </p:nvGrpSpPr>
        <p:grpSpPr>
          <a:xfrm rot="0">
            <a:off x="4235151" y="597904"/>
            <a:ext cx="2268000" cy="113702"/>
            <a:chOff x="0" y="0"/>
            <a:chExt cx="812800" cy="40748"/>
          </a:xfrm>
        </p:grpSpPr>
        <p:sp>
          <p:nvSpPr>
            <p:cNvPr name="Freeform 5" id="5"/>
            <p:cNvSpPr/>
            <p:nvPr/>
          </p:nvSpPr>
          <p:spPr>
            <a:xfrm flipH="false" flipV="false" rot="0">
              <a:off x="0" y="0"/>
              <a:ext cx="812800" cy="40748"/>
            </a:xfrm>
            <a:custGeom>
              <a:avLst/>
              <a:gdLst/>
              <a:ahLst/>
              <a:cxnLst/>
              <a:rect r="r" b="b" t="t" l="l"/>
              <a:pathLst>
                <a:path h="40748" w="812800">
                  <a:moveTo>
                    <a:pt x="0" y="0"/>
                  </a:moveTo>
                  <a:lnTo>
                    <a:pt x="812800" y="0"/>
                  </a:lnTo>
                  <a:lnTo>
                    <a:pt x="812800" y="40748"/>
                  </a:lnTo>
                  <a:lnTo>
                    <a:pt x="0" y="40748"/>
                  </a:lnTo>
                  <a:close/>
                </a:path>
              </a:pathLst>
            </a:custGeom>
            <a:solidFill>
              <a:srgbClr val="FFD21F"/>
            </a:solidFill>
          </p:spPr>
        </p:sp>
        <p:sp>
          <p:nvSpPr>
            <p:cNvPr name="TextBox 6" id="6"/>
            <p:cNvSpPr txBox="true"/>
            <p:nvPr/>
          </p:nvSpPr>
          <p:spPr>
            <a:xfrm>
              <a:off x="0" y="-9525"/>
              <a:ext cx="812800" cy="50273"/>
            </a:xfrm>
            <a:prstGeom prst="rect">
              <a:avLst/>
            </a:prstGeom>
          </p:spPr>
          <p:txBody>
            <a:bodyPr anchor="ctr" rtlCol="false" tIns="50800" lIns="50800" bIns="50800" rIns="50800"/>
            <a:lstStyle/>
            <a:p>
              <a:pPr algn="ctr">
                <a:lnSpc>
                  <a:spcPts val="1723"/>
                </a:lnSpc>
              </a:pPr>
            </a:p>
          </p:txBody>
        </p:sp>
      </p:grpSp>
      <p:sp>
        <p:nvSpPr>
          <p:cNvPr name="TextBox 7" id="7"/>
          <p:cNvSpPr txBox="true"/>
          <p:nvPr/>
        </p:nvSpPr>
        <p:spPr>
          <a:xfrm rot="0">
            <a:off x="6478005" y="543986"/>
            <a:ext cx="601697" cy="212014"/>
          </a:xfrm>
          <a:prstGeom prst="rect">
            <a:avLst/>
          </a:prstGeom>
        </p:spPr>
        <p:txBody>
          <a:bodyPr anchor="t" rtlCol="false" tIns="0" lIns="0" bIns="0" rIns="0">
            <a:spAutoFit/>
          </a:bodyPr>
          <a:lstStyle/>
          <a:p>
            <a:pPr algn="r">
              <a:lnSpc>
                <a:spcPts val="1723"/>
              </a:lnSpc>
            </a:pPr>
            <a:r>
              <a:rPr lang="en-US" sz="1389">
                <a:solidFill>
                  <a:srgbClr val="FFD21F"/>
                </a:solidFill>
                <a:latin typeface="Montserrat"/>
                <a:ea typeface="Montserrat"/>
                <a:cs typeface="Montserrat"/>
                <a:sym typeface="Montserrat"/>
              </a:rPr>
              <a:t>2026</a:t>
            </a:r>
          </a:p>
        </p:txBody>
      </p:sp>
      <p:sp>
        <p:nvSpPr>
          <p:cNvPr name="Freeform 8" id="8"/>
          <p:cNvSpPr/>
          <p:nvPr/>
        </p:nvSpPr>
        <p:spPr>
          <a:xfrm flipH="false" flipV="false" rot="0">
            <a:off x="2942479" y="756000"/>
            <a:ext cx="1794495" cy="1661294"/>
          </a:xfrm>
          <a:custGeom>
            <a:avLst/>
            <a:gdLst/>
            <a:ahLst/>
            <a:cxnLst/>
            <a:rect r="r" b="b" t="t" l="l"/>
            <a:pathLst>
              <a:path h="1661294" w="1794495">
                <a:moveTo>
                  <a:pt x="0" y="0"/>
                </a:moveTo>
                <a:lnTo>
                  <a:pt x="1794495" y="0"/>
                </a:lnTo>
                <a:lnTo>
                  <a:pt x="1794495" y="1661294"/>
                </a:lnTo>
                <a:lnTo>
                  <a:pt x="0" y="1661294"/>
                </a:lnTo>
                <a:lnTo>
                  <a:pt x="0" y="0"/>
                </a:lnTo>
                <a:close/>
              </a:path>
            </a:pathLst>
          </a:custGeom>
          <a:blipFill>
            <a:blip r:embed="rId2"/>
            <a:stretch>
              <a:fillRect l="0" t="-4008" r="0" b="-4008"/>
            </a:stretch>
          </a:blipFill>
        </p:spPr>
      </p:sp>
      <p:sp>
        <p:nvSpPr>
          <p:cNvPr name="TextBox 9" id="9"/>
          <p:cNvSpPr txBox="true"/>
          <p:nvPr/>
        </p:nvSpPr>
        <p:spPr>
          <a:xfrm rot="0">
            <a:off x="725849" y="2483969"/>
            <a:ext cx="6353853" cy="793293"/>
          </a:xfrm>
          <a:prstGeom prst="rect">
            <a:avLst/>
          </a:prstGeom>
        </p:spPr>
        <p:txBody>
          <a:bodyPr anchor="t" rtlCol="false" tIns="0" lIns="0" bIns="0" rIns="0">
            <a:spAutoFit/>
          </a:bodyPr>
          <a:lstStyle/>
          <a:p>
            <a:pPr algn="l">
              <a:lnSpc>
                <a:spcPts val="6311"/>
              </a:lnSpc>
            </a:pPr>
            <a:r>
              <a:rPr lang="en-US" sz="5089" b="true">
                <a:gradFill>
                  <a:gsLst>
                    <a:gs pos="0">
                      <a:srgbClr val="FFDE59">
                        <a:alpha val="100000"/>
                      </a:srgbClr>
                    </a:gs>
                    <a:gs pos="100000">
                      <a:srgbClr val="FF914D">
                        <a:alpha val="100000"/>
                      </a:srgbClr>
                    </a:gs>
                  </a:gsLst>
                  <a:lin ang="0"/>
                </a:gradFill>
                <a:latin typeface="Montserrat Bold"/>
                <a:ea typeface="Montserrat Bold"/>
                <a:cs typeface="Montserrat Bold"/>
                <a:sym typeface="Montserrat Bold"/>
              </a:rPr>
              <a:t>HỒ SƠ NĂNG LỰC</a:t>
            </a:r>
          </a:p>
        </p:txBody>
      </p:sp>
      <p:sp>
        <p:nvSpPr>
          <p:cNvPr name="TextBox 10" id="10"/>
          <p:cNvSpPr txBox="true"/>
          <p:nvPr/>
        </p:nvSpPr>
        <p:spPr>
          <a:xfrm rot="0">
            <a:off x="675994" y="3458237"/>
            <a:ext cx="6423794" cy="657259"/>
          </a:xfrm>
          <a:prstGeom prst="rect">
            <a:avLst/>
          </a:prstGeom>
        </p:spPr>
        <p:txBody>
          <a:bodyPr anchor="t" rtlCol="false" tIns="0" lIns="0" bIns="0" rIns="0">
            <a:spAutoFit/>
          </a:bodyPr>
          <a:lstStyle/>
          <a:p>
            <a:pPr algn="ctr">
              <a:lnSpc>
                <a:spcPts val="2551"/>
              </a:lnSpc>
            </a:pPr>
            <a:r>
              <a:rPr lang="en-US" b="true" sz="2501">
                <a:solidFill>
                  <a:srgbClr val="FFD21F"/>
                </a:solidFill>
                <a:latin typeface="Montserrat Bold"/>
                <a:ea typeface="Montserrat Bold"/>
                <a:cs typeface="Montserrat Bold"/>
                <a:sym typeface="Montserrat Bold"/>
              </a:rPr>
              <a:t>CÔNG TY TNHH TM&amp;DV </a:t>
            </a:r>
          </a:p>
          <a:p>
            <a:pPr algn="ctr">
              <a:lnSpc>
                <a:spcPts val="2551"/>
              </a:lnSpc>
            </a:pPr>
            <a:r>
              <a:rPr lang="en-US" b="true" sz="2501">
                <a:solidFill>
                  <a:srgbClr val="FFD21F"/>
                </a:solidFill>
                <a:latin typeface="Montserrat Bold"/>
                <a:ea typeface="Montserrat Bold"/>
                <a:cs typeface="Montserrat Bold"/>
                <a:sym typeface="Montserrat Bold"/>
              </a:rPr>
              <a:t>PHÚC KHANG THỊNH PHÁT</a:t>
            </a:r>
          </a:p>
        </p:txBody>
      </p:sp>
      <p:grpSp>
        <p:nvGrpSpPr>
          <p:cNvPr name="Group 11" id="11"/>
          <p:cNvGrpSpPr>
            <a:grpSpLocks noChangeAspect="true"/>
          </p:cNvGrpSpPr>
          <p:nvPr/>
        </p:nvGrpSpPr>
        <p:grpSpPr>
          <a:xfrm rot="0">
            <a:off x="-794662" y="5674230"/>
            <a:ext cx="8655190" cy="5694204"/>
            <a:chOff x="0" y="0"/>
            <a:chExt cx="9652000" cy="6350000"/>
          </a:xfrm>
        </p:grpSpPr>
        <p:sp>
          <p:nvSpPr>
            <p:cNvPr name="Freeform 12" id="12"/>
            <p:cNvSpPr/>
            <p:nvPr/>
          </p:nvSpPr>
          <p:spPr>
            <a:xfrm flipH="true" flipV="false" rot="0">
              <a:off x="0" y="0"/>
              <a:ext cx="9391650" cy="6350000"/>
            </a:xfrm>
            <a:custGeom>
              <a:avLst/>
              <a:gdLst/>
              <a:ahLst/>
              <a:cxnLst/>
              <a:rect r="r" b="b" t="t" l="l"/>
              <a:pathLst>
                <a:path h="6350000" w="9391650">
                  <a:moveTo>
                    <a:pt x="9391650" y="0"/>
                  </a:moveTo>
                  <a:lnTo>
                    <a:pt x="9391650" y="6350000"/>
                  </a:lnTo>
                  <a:lnTo>
                    <a:pt x="5601970" y="6350000"/>
                  </a:lnTo>
                  <a:lnTo>
                    <a:pt x="0" y="0"/>
                  </a:lnTo>
                  <a:close/>
                </a:path>
              </a:pathLst>
            </a:custGeom>
            <a:blipFill>
              <a:blip r:embed="rId3"/>
              <a:stretch>
                <a:fillRect l="0" t="-48600" r="0" b="-48600"/>
              </a:stretch>
            </a:blipFill>
          </p:spPr>
        </p:sp>
        <p:sp>
          <p:nvSpPr>
            <p:cNvPr name="Freeform 13" id="13"/>
            <p:cNvSpPr/>
            <p:nvPr/>
          </p:nvSpPr>
          <p:spPr>
            <a:xfrm flipH="false" flipV="false" rot="0">
              <a:off x="4064000" y="0"/>
              <a:ext cx="5588000" cy="6350000"/>
            </a:xfrm>
            <a:custGeom>
              <a:avLst/>
              <a:gdLst/>
              <a:ahLst/>
              <a:cxnLst/>
              <a:rect r="r" b="b" t="t" l="l"/>
              <a:pathLst>
                <a:path h="6350000" w="5588000">
                  <a:moveTo>
                    <a:pt x="5588000" y="6350000"/>
                  </a:moveTo>
                  <a:lnTo>
                    <a:pt x="0" y="6350000"/>
                  </a:lnTo>
                  <a:lnTo>
                    <a:pt x="5588000" y="0"/>
                  </a:lnTo>
                  <a:close/>
                </a:path>
              </a:pathLst>
            </a:custGeom>
            <a:solidFill>
              <a:srgbClr val="FFDE59"/>
            </a:solidFill>
          </p:spPr>
        </p:sp>
      </p:grpSp>
      <p:grpSp>
        <p:nvGrpSpPr>
          <p:cNvPr name="Group 14" id="14"/>
          <p:cNvGrpSpPr/>
          <p:nvPr/>
        </p:nvGrpSpPr>
        <p:grpSpPr>
          <a:xfrm rot="-5400000">
            <a:off x="-1402741" y="4446832"/>
            <a:ext cx="2805482" cy="2454797"/>
            <a:chOff x="0" y="0"/>
            <a:chExt cx="812800" cy="711200"/>
          </a:xfrm>
        </p:grpSpPr>
        <p:sp>
          <p:nvSpPr>
            <p:cNvPr name="Freeform 15" id="15"/>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solidFill>
              <a:srgbClr val="FFD21F"/>
            </a:solidFill>
          </p:spPr>
        </p:sp>
        <p:sp>
          <p:nvSpPr>
            <p:cNvPr name="TextBox 16" id="16"/>
            <p:cNvSpPr txBox="true"/>
            <p:nvPr/>
          </p:nvSpPr>
          <p:spPr>
            <a:xfrm>
              <a:off x="127000" y="41275"/>
              <a:ext cx="558800" cy="339725"/>
            </a:xfrm>
            <a:prstGeom prst="rect">
              <a:avLst/>
            </a:prstGeom>
          </p:spPr>
          <p:txBody>
            <a:bodyPr anchor="ctr" rtlCol="false" tIns="50800" lIns="50800" bIns="50800" rIns="50800"/>
            <a:lstStyle/>
            <a:p>
              <a:pPr algn="ctr">
                <a:lnSpc>
                  <a:spcPts val="1723"/>
                </a:lnSpc>
              </a:pPr>
            </a:p>
          </p:txBody>
        </p:sp>
      </p:grpSp>
      <p:grpSp>
        <p:nvGrpSpPr>
          <p:cNvPr name="Group 17" id="17"/>
          <p:cNvGrpSpPr/>
          <p:nvPr/>
        </p:nvGrpSpPr>
        <p:grpSpPr>
          <a:xfrm rot="5400000">
            <a:off x="636608" y="5942297"/>
            <a:ext cx="630177" cy="551405"/>
            <a:chOff x="0" y="0"/>
            <a:chExt cx="812800" cy="711200"/>
          </a:xfrm>
        </p:grpSpPr>
        <p:sp>
          <p:nvSpPr>
            <p:cNvPr name="Freeform 18" id="18"/>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solidFill>
              <a:srgbClr val="FFD21F"/>
            </a:solidFill>
          </p:spPr>
        </p:sp>
        <p:sp>
          <p:nvSpPr>
            <p:cNvPr name="TextBox 19" id="19"/>
            <p:cNvSpPr txBox="true"/>
            <p:nvPr/>
          </p:nvSpPr>
          <p:spPr>
            <a:xfrm>
              <a:off x="127000" y="41275"/>
              <a:ext cx="558800" cy="339725"/>
            </a:xfrm>
            <a:prstGeom prst="rect">
              <a:avLst/>
            </a:prstGeom>
          </p:spPr>
          <p:txBody>
            <a:bodyPr anchor="ctr" rtlCol="false" tIns="50800" lIns="50800" bIns="50800" rIns="50800"/>
            <a:lstStyle/>
            <a:p>
              <a:pPr algn="ctr">
                <a:lnSpc>
                  <a:spcPts val="1723"/>
                </a:lnSpc>
              </a:pPr>
            </a:p>
          </p:txBody>
        </p:sp>
      </p:grpSp>
      <p:grpSp>
        <p:nvGrpSpPr>
          <p:cNvPr name="Group 20" id="20"/>
          <p:cNvGrpSpPr/>
          <p:nvPr/>
        </p:nvGrpSpPr>
        <p:grpSpPr>
          <a:xfrm rot="5400000">
            <a:off x="6128485" y="3980948"/>
            <a:ext cx="1507435" cy="1222670"/>
            <a:chOff x="0" y="0"/>
            <a:chExt cx="1413344" cy="1146354"/>
          </a:xfrm>
        </p:grpSpPr>
        <p:sp>
          <p:nvSpPr>
            <p:cNvPr name="Freeform 21" id="21"/>
            <p:cNvSpPr/>
            <p:nvPr/>
          </p:nvSpPr>
          <p:spPr>
            <a:xfrm flipH="false" flipV="false" rot="0">
              <a:off x="0" y="0"/>
              <a:ext cx="1413344" cy="1146354"/>
            </a:xfrm>
            <a:custGeom>
              <a:avLst/>
              <a:gdLst/>
              <a:ahLst/>
              <a:cxnLst/>
              <a:rect r="r" b="b" t="t" l="l"/>
              <a:pathLst>
                <a:path h="1146354" w="1413344">
                  <a:moveTo>
                    <a:pt x="706672" y="1146354"/>
                  </a:moveTo>
                  <a:lnTo>
                    <a:pt x="1413344" y="0"/>
                  </a:lnTo>
                  <a:lnTo>
                    <a:pt x="0" y="0"/>
                  </a:lnTo>
                  <a:lnTo>
                    <a:pt x="706672" y="1146354"/>
                  </a:lnTo>
                  <a:close/>
                </a:path>
              </a:pathLst>
            </a:custGeom>
            <a:solidFill>
              <a:srgbClr val="FFD21F"/>
            </a:solidFill>
          </p:spPr>
        </p:sp>
        <p:sp>
          <p:nvSpPr>
            <p:cNvPr name="TextBox 22" id="22"/>
            <p:cNvSpPr txBox="true"/>
            <p:nvPr/>
          </p:nvSpPr>
          <p:spPr>
            <a:xfrm>
              <a:off x="220835" y="72357"/>
              <a:ext cx="971674" cy="541761"/>
            </a:xfrm>
            <a:prstGeom prst="rect">
              <a:avLst/>
            </a:prstGeom>
          </p:spPr>
          <p:txBody>
            <a:bodyPr anchor="ctr" rtlCol="false" tIns="50800" lIns="50800" bIns="50800" rIns="50800"/>
            <a:lstStyle/>
            <a:p>
              <a:pPr algn="ctr">
                <a:lnSpc>
                  <a:spcPts val="1723"/>
                </a:lnSpc>
              </a:pPr>
            </a:p>
          </p:txBody>
        </p:sp>
      </p:grpSp>
      <p:grpSp>
        <p:nvGrpSpPr>
          <p:cNvPr name="Group 23" id="23"/>
          <p:cNvGrpSpPr/>
          <p:nvPr/>
        </p:nvGrpSpPr>
        <p:grpSpPr>
          <a:xfrm rot="5400000">
            <a:off x="5887214" y="5083439"/>
            <a:ext cx="630177" cy="551405"/>
            <a:chOff x="0" y="0"/>
            <a:chExt cx="812800" cy="711200"/>
          </a:xfrm>
        </p:grpSpPr>
        <p:sp>
          <p:nvSpPr>
            <p:cNvPr name="Freeform 24" id="24"/>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solidFill>
              <a:srgbClr val="FFD21F"/>
            </a:solidFill>
          </p:spPr>
        </p:sp>
        <p:sp>
          <p:nvSpPr>
            <p:cNvPr name="TextBox 25" id="25"/>
            <p:cNvSpPr txBox="true"/>
            <p:nvPr/>
          </p:nvSpPr>
          <p:spPr>
            <a:xfrm>
              <a:off x="127000" y="41275"/>
              <a:ext cx="558800" cy="339725"/>
            </a:xfrm>
            <a:prstGeom prst="rect">
              <a:avLst/>
            </a:prstGeom>
          </p:spPr>
          <p:txBody>
            <a:bodyPr anchor="ctr" rtlCol="false" tIns="50800" lIns="50800" bIns="50800" rIns="50800"/>
            <a:lstStyle/>
            <a:p>
              <a:pPr algn="ctr">
                <a:lnSpc>
                  <a:spcPts val="1723"/>
                </a:lnSpc>
              </a:pPr>
            </a:p>
          </p:txBody>
        </p:sp>
      </p:grpSp>
      <p:sp>
        <p:nvSpPr>
          <p:cNvPr name="TextBox 26" id="26"/>
          <p:cNvSpPr txBox="true"/>
          <p:nvPr/>
        </p:nvSpPr>
        <p:spPr>
          <a:xfrm rot="0">
            <a:off x="5102339" y="9120380"/>
            <a:ext cx="1331669" cy="212014"/>
          </a:xfrm>
          <a:prstGeom prst="rect">
            <a:avLst/>
          </a:prstGeom>
        </p:spPr>
        <p:txBody>
          <a:bodyPr anchor="t" rtlCol="false" tIns="0" lIns="0" bIns="0" rIns="0">
            <a:spAutoFit/>
          </a:bodyPr>
          <a:lstStyle/>
          <a:p>
            <a:pPr algn="ctr">
              <a:lnSpc>
                <a:spcPts val="1723"/>
              </a:lnSpc>
            </a:pPr>
            <a:r>
              <a:rPr lang="en-US" b="true" sz="1389">
                <a:solidFill>
                  <a:srgbClr val="000000"/>
                </a:solidFill>
                <a:latin typeface="Montserrat Bold"/>
                <a:ea typeface="Montserrat Bold"/>
                <a:cs typeface="Montserrat Bold"/>
                <a:sym typeface="Montserrat Bold"/>
              </a:rPr>
              <a:t>LIÊN HỆ</a:t>
            </a:r>
          </a:p>
        </p:txBody>
      </p:sp>
      <p:sp>
        <p:nvSpPr>
          <p:cNvPr name="TextBox 27" id="27"/>
          <p:cNvSpPr txBox="true"/>
          <p:nvPr/>
        </p:nvSpPr>
        <p:spPr>
          <a:xfrm rot="0">
            <a:off x="3839727" y="9570519"/>
            <a:ext cx="2594281" cy="574833"/>
          </a:xfrm>
          <a:prstGeom prst="rect">
            <a:avLst/>
          </a:prstGeom>
        </p:spPr>
        <p:txBody>
          <a:bodyPr anchor="t" rtlCol="false" tIns="0" lIns="0" bIns="0" rIns="0">
            <a:spAutoFit/>
          </a:bodyPr>
          <a:lstStyle/>
          <a:p>
            <a:pPr algn="r">
              <a:lnSpc>
                <a:spcPts val="1511"/>
              </a:lnSpc>
            </a:pPr>
            <a:r>
              <a:rPr lang="en-US" sz="1218" b="true">
                <a:solidFill>
                  <a:srgbClr val="000000"/>
                </a:solidFill>
                <a:latin typeface="Montserrat Bold"/>
                <a:ea typeface="Montserrat Bold"/>
                <a:cs typeface="Montserrat Bold"/>
                <a:sym typeface="Montserrat Bold"/>
              </a:rPr>
              <a:t>252 Tô Hiệu, Đà Nẵng</a:t>
            </a:r>
          </a:p>
          <a:p>
            <a:pPr algn="r">
              <a:lnSpc>
                <a:spcPts val="1511"/>
              </a:lnSpc>
            </a:pPr>
            <a:r>
              <a:rPr lang="en-US" sz="1218" b="true">
                <a:solidFill>
                  <a:srgbClr val="000000"/>
                </a:solidFill>
                <a:latin typeface="Montserrat Bold"/>
                <a:ea typeface="Montserrat Bold"/>
                <a:cs typeface="Montserrat Bold"/>
                <a:sym typeface="Montserrat Bold"/>
              </a:rPr>
              <a:t>pkgift.sales@gmail.com</a:t>
            </a:r>
          </a:p>
          <a:p>
            <a:pPr algn="r">
              <a:lnSpc>
                <a:spcPts val="1511"/>
              </a:lnSpc>
            </a:pPr>
            <a:r>
              <a:rPr lang="en-US" sz="1218" b="true">
                <a:solidFill>
                  <a:srgbClr val="000000"/>
                </a:solidFill>
                <a:latin typeface="Montserrat Bold"/>
                <a:ea typeface="Montserrat Bold"/>
                <a:cs typeface="Montserrat Bold"/>
                <a:sym typeface="Montserrat Bold"/>
              </a:rPr>
              <a:t>0938 613 943 - 0905 881 561</a:t>
            </a:r>
          </a:p>
        </p:txBody>
      </p:sp>
      <p:grpSp>
        <p:nvGrpSpPr>
          <p:cNvPr name="Group 28" id="28"/>
          <p:cNvGrpSpPr/>
          <p:nvPr/>
        </p:nvGrpSpPr>
        <p:grpSpPr>
          <a:xfrm rot="0">
            <a:off x="5307779" y="9332394"/>
            <a:ext cx="1195372" cy="47625"/>
            <a:chOff x="0" y="0"/>
            <a:chExt cx="428394" cy="17068"/>
          </a:xfrm>
        </p:grpSpPr>
        <p:sp>
          <p:nvSpPr>
            <p:cNvPr name="Freeform 29" id="29"/>
            <p:cNvSpPr/>
            <p:nvPr/>
          </p:nvSpPr>
          <p:spPr>
            <a:xfrm flipH="false" flipV="false" rot="0">
              <a:off x="0" y="0"/>
              <a:ext cx="428394" cy="17068"/>
            </a:xfrm>
            <a:custGeom>
              <a:avLst/>
              <a:gdLst/>
              <a:ahLst/>
              <a:cxnLst/>
              <a:rect r="r" b="b" t="t" l="l"/>
              <a:pathLst>
                <a:path h="17068" w="428394">
                  <a:moveTo>
                    <a:pt x="0" y="0"/>
                  </a:moveTo>
                  <a:lnTo>
                    <a:pt x="428394" y="0"/>
                  </a:lnTo>
                  <a:lnTo>
                    <a:pt x="428394" y="17068"/>
                  </a:lnTo>
                  <a:lnTo>
                    <a:pt x="0" y="17068"/>
                  </a:lnTo>
                  <a:close/>
                </a:path>
              </a:pathLst>
            </a:custGeom>
            <a:solidFill>
              <a:srgbClr val="000000"/>
            </a:solidFill>
          </p:spPr>
        </p:sp>
        <p:sp>
          <p:nvSpPr>
            <p:cNvPr name="TextBox 30" id="30"/>
            <p:cNvSpPr txBox="true"/>
            <p:nvPr/>
          </p:nvSpPr>
          <p:spPr>
            <a:xfrm>
              <a:off x="0" y="-9525"/>
              <a:ext cx="428394" cy="26593"/>
            </a:xfrm>
            <a:prstGeom prst="rect">
              <a:avLst/>
            </a:prstGeom>
          </p:spPr>
          <p:txBody>
            <a:bodyPr anchor="ctr" rtlCol="false" tIns="50800" lIns="50800" bIns="50800" rIns="50800"/>
            <a:lstStyle/>
            <a:p>
              <a:pPr algn="ctr">
                <a:lnSpc>
                  <a:spcPts val="1723"/>
                </a:lnSpc>
              </a:pPr>
            </a:p>
          </p:txBody>
        </p:sp>
      </p:grpSp>
      <p:grpSp>
        <p:nvGrpSpPr>
          <p:cNvPr name="Group 31" id="31"/>
          <p:cNvGrpSpPr/>
          <p:nvPr/>
        </p:nvGrpSpPr>
        <p:grpSpPr>
          <a:xfrm rot="5400000">
            <a:off x="4139690" y="7543377"/>
            <a:ext cx="4758371" cy="1884279"/>
            <a:chOff x="0" y="0"/>
            <a:chExt cx="2016812" cy="798642"/>
          </a:xfrm>
        </p:grpSpPr>
        <p:sp>
          <p:nvSpPr>
            <p:cNvPr name="Freeform 32" id="32"/>
            <p:cNvSpPr/>
            <p:nvPr/>
          </p:nvSpPr>
          <p:spPr>
            <a:xfrm flipH="false" flipV="false" rot="0">
              <a:off x="0" y="0"/>
              <a:ext cx="2016812" cy="798642"/>
            </a:xfrm>
            <a:custGeom>
              <a:avLst/>
              <a:gdLst/>
              <a:ahLst/>
              <a:cxnLst/>
              <a:rect r="r" b="b" t="t" l="l"/>
              <a:pathLst>
                <a:path h="798642" w="2016812">
                  <a:moveTo>
                    <a:pt x="1008406" y="798642"/>
                  </a:moveTo>
                  <a:lnTo>
                    <a:pt x="2016812" y="0"/>
                  </a:lnTo>
                  <a:lnTo>
                    <a:pt x="0" y="0"/>
                  </a:lnTo>
                  <a:lnTo>
                    <a:pt x="1008406" y="798642"/>
                  </a:lnTo>
                  <a:close/>
                </a:path>
              </a:pathLst>
            </a:custGeom>
            <a:solidFill>
              <a:srgbClr val="FFD21F"/>
            </a:solidFill>
          </p:spPr>
        </p:sp>
        <p:sp>
          <p:nvSpPr>
            <p:cNvPr name="TextBox 33" id="33"/>
            <p:cNvSpPr txBox="true"/>
            <p:nvPr/>
          </p:nvSpPr>
          <p:spPr>
            <a:xfrm>
              <a:off x="315127" y="47521"/>
              <a:ext cx="1386558" cy="380323"/>
            </a:xfrm>
            <a:prstGeom prst="rect">
              <a:avLst/>
            </a:prstGeom>
          </p:spPr>
          <p:txBody>
            <a:bodyPr anchor="ctr" rtlCol="false" tIns="50800" lIns="50800" bIns="50800" rIns="50800"/>
            <a:lstStyle/>
            <a:p>
              <a:pPr algn="ctr">
                <a:lnSpc>
                  <a:spcPts val="1723"/>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7560000" cy="4142320"/>
            <a:chOff x="0" y="0"/>
            <a:chExt cx="2709333" cy="1484514"/>
          </a:xfrm>
        </p:grpSpPr>
        <p:sp>
          <p:nvSpPr>
            <p:cNvPr name="Freeform 3" id="3"/>
            <p:cNvSpPr/>
            <p:nvPr/>
          </p:nvSpPr>
          <p:spPr>
            <a:xfrm flipH="false" flipV="false" rot="0">
              <a:off x="0" y="0"/>
              <a:ext cx="2709333" cy="1484514"/>
            </a:xfrm>
            <a:custGeom>
              <a:avLst/>
              <a:gdLst/>
              <a:ahLst/>
              <a:cxnLst/>
              <a:rect r="r" b="b" t="t" l="l"/>
              <a:pathLst>
                <a:path h="1484514" w="2709333">
                  <a:moveTo>
                    <a:pt x="0" y="0"/>
                  </a:moveTo>
                  <a:lnTo>
                    <a:pt x="2709333" y="0"/>
                  </a:lnTo>
                  <a:lnTo>
                    <a:pt x="2709333" y="1484514"/>
                  </a:lnTo>
                  <a:lnTo>
                    <a:pt x="0" y="1484514"/>
                  </a:lnTo>
                  <a:close/>
                </a:path>
              </a:pathLst>
            </a:custGeom>
            <a:solidFill>
              <a:srgbClr val="1D3A72"/>
            </a:solidFill>
          </p:spPr>
        </p:sp>
        <p:sp>
          <p:nvSpPr>
            <p:cNvPr name="TextBox 4" id="4"/>
            <p:cNvSpPr txBox="true"/>
            <p:nvPr/>
          </p:nvSpPr>
          <p:spPr>
            <a:xfrm>
              <a:off x="0" y="-28575"/>
              <a:ext cx="2709333" cy="1513089"/>
            </a:xfrm>
            <a:prstGeom prst="rect">
              <a:avLst/>
            </a:prstGeom>
          </p:spPr>
          <p:txBody>
            <a:bodyPr anchor="ctr" rtlCol="false" tIns="50800" lIns="50800" bIns="50800" rIns="50800"/>
            <a:lstStyle/>
            <a:p>
              <a:pPr algn="ctr">
                <a:lnSpc>
                  <a:spcPts val="1960"/>
                </a:lnSpc>
                <a:spcBef>
                  <a:spcPct val="0"/>
                </a:spcBef>
              </a:pPr>
            </a:p>
          </p:txBody>
        </p:sp>
      </p:grpSp>
      <p:sp>
        <p:nvSpPr>
          <p:cNvPr name="AutoShape 5" id="5"/>
          <p:cNvSpPr/>
          <p:nvPr/>
        </p:nvSpPr>
        <p:spPr>
          <a:xfrm>
            <a:off x="756000" y="9931237"/>
            <a:ext cx="6048000" cy="0"/>
          </a:xfrm>
          <a:prstGeom prst="line">
            <a:avLst/>
          </a:prstGeom>
          <a:ln cap="flat" w="9525">
            <a:solidFill>
              <a:srgbClr val="1D3A72"/>
            </a:solidFill>
            <a:prstDash val="solid"/>
            <a:headEnd type="none" len="sm" w="sm"/>
            <a:tailEnd type="none" len="sm" w="sm"/>
          </a:ln>
        </p:spPr>
      </p:sp>
      <p:sp>
        <p:nvSpPr>
          <p:cNvPr name="Freeform 6" id="6"/>
          <p:cNvSpPr/>
          <p:nvPr/>
        </p:nvSpPr>
        <p:spPr>
          <a:xfrm flipH="false" flipV="false" rot="0">
            <a:off x="-198620" y="0"/>
            <a:ext cx="7784280" cy="5766471"/>
          </a:xfrm>
          <a:custGeom>
            <a:avLst/>
            <a:gdLst/>
            <a:ahLst/>
            <a:cxnLst/>
            <a:rect r="r" b="b" t="t" l="l"/>
            <a:pathLst>
              <a:path h="5766471" w="7784280">
                <a:moveTo>
                  <a:pt x="0" y="0"/>
                </a:moveTo>
                <a:lnTo>
                  <a:pt x="7784280" y="0"/>
                </a:lnTo>
                <a:lnTo>
                  <a:pt x="7784280" y="5766471"/>
                </a:lnTo>
                <a:lnTo>
                  <a:pt x="0" y="5766471"/>
                </a:lnTo>
                <a:lnTo>
                  <a:pt x="0" y="0"/>
                </a:lnTo>
                <a:close/>
              </a:path>
            </a:pathLst>
          </a:custGeom>
          <a:blipFill>
            <a:blip r:embed="rId2"/>
            <a:stretch>
              <a:fillRect l="0" t="0" r="0" b="-1244"/>
            </a:stretch>
          </a:blipFill>
        </p:spPr>
      </p:sp>
      <p:sp>
        <p:nvSpPr>
          <p:cNvPr name="Freeform 7" id="7"/>
          <p:cNvSpPr/>
          <p:nvPr/>
        </p:nvSpPr>
        <p:spPr>
          <a:xfrm flipH="false" flipV="false" rot="0">
            <a:off x="37474" y="9774882"/>
            <a:ext cx="7485052" cy="846344"/>
          </a:xfrm>
          <a:custGeom>
            <a:avLst/>
            <a:gdLst/>
            <a:ahLst/>
            <a:cxnLst/>
            <a:rect r="r" b="b" t="t" l="l"/>
            <a:pathLst>
              <a:path h="846344" w="7485052">
                <a:moveTo>
                  <a:pt x="0" y="0"/>
                </a:moveTo>
                <a:lnTo>
                  <a:pt x="7485052" y="0"/>
                </a:lnTo>
                <a:lnTo>
                  <a:pt x="7485052" y="846344"/>
                </a:lnTo>
                <a:lnTo>
                  <a:pt x="0" y="846344"/>
                </a:lnTo>
                <a:lnTo>
                  <a:pt x="0" y="0"/>
                </a:lnTo>
                <a:close/>
              </a:path>
            </a:pathLst>
          </a:custGeom>
          <a:blipFill>
            <a:blip r:embed="rId3"/>
            <a:stretch>
              <a:fillRect l="-26658" t="0" r="-26658" b="0"/>
            </a:stretch>
          </a:blipFill>
        </p:spPr>
      </p:sp>
      <p:sp>
        <p:nvSpPr>
          <p:cNvPr name="TextBox 8" id="8"/>
          <p:cNvSpPr txBox="true"/>
          <p:nvPr/>
        </p:nvSpPr>
        <p:spPr>
          <a:xfrm rot="0">
            <a:off x="408898" y="6025156"/>
            <a:ext cx="6569245" cy="577460"/>
          </a:xfrm>
          <a:prstGeom prst="rect">
            <a:avLst/>
          </a:prstGeom>
        </p:spPr>
        <p:txBody>
          <a:bodyPr anchor="t" rtlCol="false" tIns="0" lIns="0" bIns="0" rIns="0">
            <a:spAutoFit/>
          </a:bodyPr>
          <a:lstStyle/>
          <a:p>
            <a:pPr algn="l">
              <a:lnSpc>
                <a:spcPts val="4396"/>
              </a:lnSpc>
              <a:spcBef>
                <a:spcPct val="0"/>
              </a:spcBef>
            </a:pPr>
            <a:r>
              <a:rPr lang="en-US" b="true" sz="3140" spc="-166">
                <a:solidFill>
                  <a:srgbClr val="000000"/>
                </a:solidFill>
                <a:latin typeface="Helvetica World Bold"/>
                <a:ea typeface="Helvetica World Bold"/>
                <a:cs typeface="Helvetica World Bold"/>
                <a:sym typeface="Helvetica World Bold"/>
              </a:rPr>
              <a:t>Giới thiệu tổng quan về doanh nghiệp</a:t>
            </a:r>
          </a:p>
        </p:txBody>
      </p:sp>
      <p:sp>
        <p:nvSpPr>
          <p:cNvPr name="TextBox 9" id="9"/>
          <p:cNvSpPr txBox="true"/>
          <p:nvPr/>
        </p:nvSpPr>
        <p:spPr>
          <a:xfrm rot="0">
            <a:off x="250851" y="6822864"/>
            <a:ext cx="7058298" cy="2722245"/>
          </a:xfrm>
          <a:prstGeom prst="rect">
            <a:avLst/>
          </a:prstGeom>
        </p:spPr>
        <p:txBody>
          <a:bodyPr anchor="t" rtlCol="false" tIns="0" lIns="0" bIns="0" rIns="0">
            <a:spAutoFit/>
          </a:bodyPr>
          <a:lstStyle/>
          <a:p>
            <a:pPr algn="l">
              <a:lnSpc>
                <a:spcPts val="1680"/>
              </a:lnSpc>
            </a:pPr>
            <a:r>
              <a:rPr lang="en-US" sz="1200" b="true">
                <a:solidFill>
                  <a:srgbClr val="222444"/>
                </a:solidFill>
                <a:latin typeface="Helvetica World Bold"/>
                <a:ea typeface="Helvetica World Bold"/>
                <a:cs typeface="Helvetica World Bold"/>
                <a:sym typeface="Helvetica World Bold"/>
              </a:rPr>
              <a:t>Công ty TNHH Thương mại và Dịch vụ Phúc Khang Thịnh Phá</a:t>
            </a:r>
            <a:r>
              <a:rPr lang="en-US" sz="1200">
                <a:solidFill>
                  <a:srgbClr val="222444"/>
                </a:solidFill>
                <a:latin typeface="Helvetica World"/>
                <a:ea typeface="Helvetica World"/>
                <a:cs typeface="Helvetica World"/>
                <a:sym typeface="Helvetica World"/>
              </a:rPr>
              <a:t>t là đơn vị chuyên cung cấp giải pháp quà tặng doanh nghiệp và sản phẩm gia dụng chính hãng cho doanh nghiệp, tổ chức, khách sạn và resort trên toàn quốc.</a:t>
            </a:r>
          </a:p>
          <a:p>
            <a:pPr algn="l">
              <a:lnSpc>
                <a:spcPts val="1680"/>
              </a:lnSpc>
            </a:pPr>
          </a:p>
          <a:p>
            <a:pPr algn="l">
              <a:lnSpc>
                <a:spcPts val="1680"/>
              </a:lnSpc>
            </a:pPr>
            <a:r>
              <a:rPr lang="en-US" sz="1200">
                <a:solidFill>
                  <a:srgbClr val="222444"/>
                </a:solidFill>
                <a:latin typeface="Helvetica World"/>
                <a:ea typeface="Helvetica World"/>
                <a:cs typeface="Helvetica World"/>
                <a:sym typeface="Helvetica World"/>
              </a:rPr>
              <a:t>Chúng tôi cung cấp đa dạng các nhóm sản phẩm như bình giữ nhiệt, bình nước, ly cốc, ô dù, túi vải, balo, nón, sổ tay, bút ký, giftset, quà Tết, quà Trung thu cùng nhiều sản phẩm quà tặng theo yêu cầu. Bên cạnh đó, Phúc Khang Thịnh Phát còn là đối tác phân phối các thương hiệu uy tín như LocknLock, Elmich, Inochi, TokyoLife và nhiều thương hiệu gia dụng khác.</a:t>
            </a:r>
          </a:p>
          <a:p>
            <a:pPr algn="l">
              <a:lnSpc>
                <a:spcPts val="1680"/>
              </a:lnSpc>
            </a:pPr>
          </a:p>
          <a:p>
            <a:pPr algn="l">
              <a:lnSpc>
                <a:spcPts val="1680"/>
              </a:lnSpc>
            </a:pPr>
            <a:r>
              <a:rPr lang="en-US" sz="1200">
                <a:solidFill>
                  <a:srgbClr val="222444"/>
                </a:solidFill>
                <a:latin typeface="Helvetica World"/>
                <a:ea typeface="Helvetica World"/>
                <a:cs typeface="Helvetica World"/>
                <a:sym typeface="Helvetica World"/>
              </a:rPr>
              <a:t>Với phương châm "Uy tín – Tận tâm – Trách nhiệm", chúng tôi cam kết mang đến sản phẩm chất lượng, giá cạnh tranh, dịch vụ in ấn – thiết kế – đóng gói chuyên nghiệp, cùng chế độ bảo hành chính hãng và giải pháp quà tặng phù hợp với từng nhu cầu, góp phần nâng tầm hình ảnh thương hiệu cho khách hàng.</a:t>
            </a:r>
          </a:p>
          <a:p>
            <a:pPr algn="l">
              <a:lnSpc>
                <a:spcPts val="1680"/>
              </a:lnSpc>
              <a:spcBef>
                <a:spcPct val="0"/>
              </a:spcBef>
            </a:pPr>
          </a:p>
        </p:txBody>
      </p:sp>
      <p:sp>
        <p:nvSpPr>
          <p:cNvPr name="TextBox 10" id="10"/>
          <p:cNvSpPr txBox="true"/>
          <p:nvPr/>
        </p:nvSpPr>
        <p:spPr>
          <a:xfrm rot="0">
            <a:off x="4937406" y="10040628"/>
            <a:ext cx="1866594" cy="174624"/>
          </a:xfrm>
          <a:prstGeom prst="rect">
            <a:avLst/>
          </a:prstGeom>
        </p:spPr>
        <p:txBody>
          <a:bodyPr anchor="t" rtlCol="false" tIns="0" lIns="0" bIns="0" rIns="0">
            <a:spAutoFit/>
          </a:bodyPr>
          <a:lstStyle/>
          <a:p>
            <a:pPr algn="r">
              <a:lnSpc>
                <a:spcPts val="1400"/>
              </a:lnSpc>
            </a:pPr>
            <a:r>
              <a:rPr lang="en-US" sz="1000">
                <a:solidFill>
                  <a:srgbClr val="2B2B2B"/>
                </a:solidFill>
                <a:latin typeface="Helvetica World"/>
                <a:ea typeface="Helvetica World"/>
                <a:cs typeface="Helvetica World"/>
                <a:sym typeface="Helvetica World"/>
              </a:rPr>
              <a:t>01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AutoShape 2" id="2"/>
          <p:cNvSpPr/>
          <p:nvPr/>
        </p:nvSpPr>
        <p:spPr>
          <a:xfrm>
            <a:off x="756000" y="9931237"/>
            <a:ext cx="6048000" cy="0"/>
          </a:xfrm>
          <a:prstGeom prst="line">
            <a:avLst/>
          </a:prstGeom>
          <a:ln cap="flat" w="9525">
            <a:solidFill>
              <a:srgbClr val="FFFFFF"/>
            </a:solidFill>
            <a:prstDash val="solid"/>
            <a:headEnd type="none" len="sm" w="sm"/>
            <a:tailEnd type="none" len="sm" w="sm"/>
          </a:ln>
        </p:spPr>
      </p:sp>
      <p:grpSp>
        <p:nvGrpSpPr>
          <p:cNvPr name="Group 3" id="3"/>
          <p:cNvGrpSpPr/>
          <p:nvPr/>
        </p:nvGrpSpPr>
        <p:grpSpPr>
          <a:xfrm rot="0">
            <a:off x="0" y="0"/>
            <a:ext cx="7560000" cy="2726824"/>
            <a:chOff x="0" y="0"/>
            <a:chExt cx="1593725" cy="574843"/>
          </a:xfrm>
        </p:grpSpPr>
        <p:sp>
          <p:nvSpPr>
            <p:cNvPr name="Freeform 4" id="4"/>
            <p:cNvSpPr/>
            <p:nvPr/>
          </p:nvSpPr>
          <p:spPr>
            <a:xfrm flipH="false" flipV="false" rot="0">
              <a:off x="0" y="0"/>
              <a:ext cx="1593725" cy="574843"/>
            </a:xfrm>
            <a:custGeom>
              <a:avLst/>
              <a:gdLst/>
              <a:ahLst/>
              <a:cxnLst/>
              <a:rect r="r" b="b" t="t" l="l"/>
              <a:pathLst>
                <a:path h="574843" w="1593725">
                  <a:moveTo>
                    <a:pt x="0" y="0"/>
                  </a:moveTo>
                  <a:lnTo>
                    <a:pt x="1593725" y="0"/>
                  </a:lnTo>
                  <a:lnTo>
                    <a:pt x="1593725" y="574843"/>
                  </a:lnTo>
                  <a:lnTo>
                    <a:pt x="0" y="574843"/>
                  </a:lnTo>
                  <a:close/>
                </a:path>
              </a:pathLst>
            </a:custGeom>
            <a:blipFill>
              <a:blip r:embed="rId2"/>
              <a:stretch>
                <a:fillRect l="0" t="-5354" r="0" b="-5354"/>
              </a:stretch>
            </a:blipFill>
          </p:spPr>
        </p:sp>
      </p:grpSp>
      <p:sp>
        <p:nvSpPr>
          <p:cNvPr name="TextBox 5" id="5"/>
          <p:cNvSpPr txBox="true"/>
          <p:nvPr/>
        </p:nvSpPr>
        <p:spPr>
          <a:xfrm rot="0">
            <a:off x="993248" y="7241971"/>
            <a:ext cx="5698994" cy="521588"/>
          </a:xfrm>
          <a:prstGeom prst="rect">
            <a:avLst/>
          </a:prstGeom>
        </p:spPr>
        <p:txBody>
          <a:bodyPr anchor="t" rtlCol="false" tIns="0" lIns="0" bIns="0" rIns="0">
            <a:spAutoFit/>
          </a:bodyPr>
          <a:lstStyle/>
          <a:p>
            <a:pPr algn="l">
              <a:lnSpc>
                <a:spcPts val="2208"/>
              </a:lnSpc>
            </a:pPr>
            <a:r>
              <a:rPr lang="en-US" sz="1200">
                <a:solidFill>
                  <a:srgbClr val="FFFFFF"/>
                </a:solidFill>
                <a:latin typeface="Helvetica World"/>
                <a:ea typeface="Helvetica World"/>
                <a:cs typeface="Helvetica World"/>
                <a:sym typeface="Helvetica World"/>
              </a:rPr>
              <a:t>Trở thành đối tác cung cấp quà tặng doanh nghiệp đáng tin cậy tại thị trường Miền Trung và mử rộng ra toàn quốc</a:t>
            </a:r>
          </a:p>
        </p:txBody>
      </p:sp>
      <p:sp>
        <p:nvSpPr>
          <p:cNvPr name="TextBox 6" id="6"/>
          <p:cNvSpPr txBox="true"/>
          <p:nvPr/>
        </p:nvSpPr>
        <p:spPr>
          <a:xfrm rot="0">
            <a:off x="1036461" y="6903973"/>
            <a:ext cx="2806284" cy="325755"/>
          </a:xfrm>
          <a:prstGeom prst="rect">
            <a:avLst/>
          </a:prstGeom>
        </p:spPr>
        <p:txBody>
          <a:bodyPr anchor="t" rtlCol="false" tIns="0" lIns="0" bIns="0" rIns="0">
            <a:spAutoFit/>
          </a:bodyPr>
          <a:lstStyle/>
          <a:p>
            <a:pPr algn="l">
              <a:lnSpc>
                <a:spcPts val="2519"/>
              </a:lnSpc>
            </a:pPr>
            <a:r>
              <a:rPr lang="en-US" b="true" sz="1799" spc="179">
                <a:solidFill>
                  <a:srgbClr val="FFBD59"/>
                </a:solidFill>
                <a:latin typeface="Helvetica World Bold"/>
                <a:ea typeface="Helvetica World Bold"/>
                <a:cs typeface="Helvetica World Bold"/>
                <a:sym typeface="Helvetica World Bold"/>
              </a:rPr>
              <a:t>TẦM NHÌN</a:t>
            </a:r>
          </a:p>
        </p:txBody>
      </p:sp>
      <p:sp>
        <p:nvSpPr>
          <p:cNvPr name="TextBox 7" id="7"/>
          <p:cNvSpPr txBox="true"/>
          <p:nvPr/>
        </p:nvSpPr>
        <p:spPr>
          <a:xfrm rot="0">
            <a:off x="1036461" y="8654586"/>
            <a:ext cx="5689576" cy="517016"/>
          </a:xfrm>
          <a:prstGeom prst="rect">
            <a:avLst/>
          </a:prstGeom>
        </p:spPr>
        <p:txBody>
          <a:bodyPr anchor="t" rtlCol="false" tIns="0" lIns="0" bIns="0" rIns="0">
            <a:spAutoFit/>
          </a:bodyPr>
          <a:lstStyle/>
          <a:p>
            <a:pPr algn="l">
              <a:lnSpc>
                <a:spcPts val="2244"/>
              </a:lnSpc>
            </a:pPr>
            <a:r>
              <a:rPr lang="en-US" sz="1200">
                <a:solidFill>
                  <a:srgbClr val="FFFFFF"/>
                </a:solidFill>
                <a:latin typeface="Helvetica World"/>
                <a:ea typeface="Helvetica World"/>
                <a:cs typeface="Helvetica World"/>
                <a:sym typeface="Helvetica World"/>
              </a:rPr>
              <a:t>Mang đến những sản phẩm chất lượng giúp doanh nghiệp quảng bá thương hiệu hiệu quả.</a:t>
            </a:r>
          </a:p>
        </p:txBody>
      </p:sp>
      <p:sp>
        <p:nvSpPr>
          <p:cNvPr name="TextBox 8" id="8"/>
          <p:cNvSpPr txBox="true"/>
          <p:nvPr/>
        </p:nvSpPr>
        <p:spPr>
          <a:xfrm rot="0">
            <a:off x="1074965" y="8320378"/>
            <a:ext cx="2806284" cy="325755"/>
          </a:xfrm>
          <a:prstGeom prst="rect">
            <a:avLst/>
          </a:prstGeom>
        </p:spPr>
        <p:txBody>
          <a:bodyPr anchor="t" rtlCol="false" tIns="0" lIns="0" bIns="0" rIns="0">
            <a:spAutoFit/>
          </a:bodyPr>
          <a:lstStyle/>
          <a:p>
            <a:pPr algn="l">
              <a:lnSpc>
                <a:spcPts val="2519"/>
              </a:lnSpc>
            </a:pPr>
            <a:r>
              <a:rPr lang="en-US" b="true" sz="1799" spc="179">
                <a:solidFill>
                  <a:srgbClr val="FFBD59"/>
                </a:solidFill>
                <a:latin typeface="Helvetica World Bold"/>
                <a:ea typeface="Helvetica World Bold"/>
                <a:cs typeface="Helvetica World Bold"/>
                <a:sym typeface="Helvetica World Bold"/>
              </a:rPr>
              <a:t>SỨ MỆNH</a:t>
            </a:r>
          </a:p>
        </p:txBody>
      </p:sp>
      <p:sp>
        <p:nvSpPr>
          <p:cNvPr name="TextBox 9" id="9"/>
          <p:cNvSpPr txBox="true"/>
          <p:nvPr/>
        </p:nvSpPr>
        <p:spPr>
          <a:xfrm rot="0">
            <a:off x="4937406" y="10040628"/>
            <a:ext cx="1866594" cy="174624"/>
          </a:xfrm>
          <a:prstGeom prst="rect">
            <a:avLst/>
          </a:prstGeom>
        </p:spPr>
        <p:txBody>
          <a:bodyPr anchor="t" rtlCol="false" tIns="0" lIns="0" bIns="0" rIns="0">
            <a:spAutoFit/>
          </a:bodyPr>
          <a:lstStyle/>
          <a:p>
            <a:pPr algn="r">
              <a:lnSpc>
                <a:spcPts val="1400"/>
              </a:lnSpc>
            </a:pPr>
            <a:r>
              <a:rPr lang="en-US" sz="1000">
                <a:solidFill>
                  <a:srgbClr val="FFFFFF"/>
                </a:solidFill>
                <a:latin typeface="Helvetica World"/>
                <a:ea typeface="Helvetica World"/>
                <a:cs typeface="Helvetica World"/>
                <a:sym typeface="Helvetica World"/>
              </a:rPr>
              <a:t>02</a:t>
            </a:r>
          </a:p>
        </p:txBody>
      </p:sp>
      <p:sp>
        <p:nvSpPr>
          <p:cNvPr name="TextBox 10" id="10"/>
          <p:cNvSpPr txBox="true"/>
          <p:nvPr/>
        </p:nvSpPr>
        <p:spPr>
          <a:xfrm rot="0">
            <a:off x="1058483" y="3047161"/>
            <a:ext cx="2806284" cy="325755"/>
          </a:xfrm>
          <a:prstGeom prst="rect">
            <a:avLst/>
          </a:prstGeom>
        </p:spPr>
        <p:txBody>
          <a:bodyPr anchor="t" rtlCol="false" tIns="0" lIns="0" bIns="0" rIns="0">
            <a:spAutoFit/>
          </a:bodyPr>
          <a:lstStyle/>
          <a:p>
            <a:pPr algn="l">
              <a:lnSpc>
                <a:spcPts val="2519"/>
              </a:lnSpc>
            </a:pPr>
            <a:r>
              <a:rPr lang="en-US" b="true" sz="1799" spc="179">
                <a:solidFill>
                  <a:srgbClr val="FFBD59"/>
                </a:solidFill>
                <a:latin typeface="Helvetica World Bold"/>
                <a:ea typeface="Helvetica World Bold"/>
                <a:cs typeface="Helvetica World Bold"/>
                <a:sym typeface="Helvetica World Bold"/>
              </a:rPr>
              <a:t>GIÁ TRỊ CỐT LÕI</a:t>
            </a:r>
          </a:p>
        </p:txBody>
      </p:sp>
      <p:sp>
        <p:nvSpPr>
          <p:cNvPr name="TextBox 11" id="11"/>
          <p:cNvSpPr txBox="true"/>
          <p:nvPr/>
        </p:nvSpPr>
        <p:spPr>
          <a:xfrm rot="0">
            <a:off x="973716" y="3435850"/>
            <a:ext cx="5538879" cy="3056277"/>
          </a:xfrm>
          <a:prstGeom prst="rect">
            <a:avLst/>
          </a:prstGeom>
        </p:spPr>
        <p:txBody>
          <a:bodyPr anchor="t" rtlCol="false" tIns="0" lIns="0" bIns="0" rIns="0">
            <a:spAutoFit/>
          </a:bodyPr>
          <a:lstStyle/>
          <a:p>
            <a:pPr algn="just" marL="253858" indent="-126929" lvl="1">
              <a:lnSpc>
                <a:spcPts val="2245"/>
              </a:lnSpc>
              <a:buFont typeface="Arial"/>
              <a:buChar char="•"/>
            </a:pPr>
            <a:r>
              <a:rPr lang="en-US" sz="1175">
                <a:solidFill>
                  <a:srgbClr val="FFFFFF"/>
                </a:solidFill>
                <a:latin typeface="Helvetica World"/>
                <a:ea typeface="Helvetica World"/>
                <a:cs typeface="Helvetica World"/>
                <a:sym typeface="Helvetica World"/>
              </a:rPr>
              <a:t>Uy tín:</a:t>
            </a:r>
          </a:p>
          <a:p>
            <a:pPr algn="just">
              <a:lnSpc>
                <a:spcPts val="2245"/>
              </a:lnSpc>
            </a:pPr>
            <a:r>
              <a:rPr lang="en-US" sz="1175">
                <a:solidFill>
                  <a:srgbClr val="FFFFFF"/>
                </a:solidFill>
                <a:latin typeface="Helvetica World"/>
                <a:ea typeface="Helvetica World"/>
                <a:cs typeface="Helvetica World"/>
                <a:sym typeface="Helvetica World"/>
              </a:rPr>
              <a:t> Chúng tôi luôn đặt chữ tín lên hàng đầu bằng việc cung cấp sản phẩm đúng chất lượng, đúng cam kết, đúng tiến độ và minh bạch trong mọi hoạt động hợp tác.</a:t>
            </a:r>
          </a:p>
          <a:p>
            <a:pPr algn="just" marL="253858" indent="-126929" lvl="1">
              <a:lnSpc>
                <a:spcPts val="2245"/>
              </a:lnSpc>
              <a:buFont typeface="Arial"/>
              <a:buChar char="•"/>
            </a:pPr>
            <a:r>
              <a:rPr lang="en-US" sz="1175">
                <a:solidFill>
                  <a:srgbClr val="FFFFFF"/>
                </a:solidFill>
                <a:latin typeface="Helvetica World"/>
                <a:ea typeface="Helvetica World"/>
                <a:cs typeface="Helvetica World"/>
                <a:sym typeface="Helvetica World"/>
              </a:rPr>
              <a:t>Tận tâm</a:t>
            </a:r>
          </a:p>
          <a:p>
            <a:pPr algn="just">
              <a:lnSpc>
                <a:spcPts val="2245"/>
              </a:lnSpc>
            </a:pPr>
            <a:r>
              <a:rPr lang="en-US" sz="1175">
                <a:solidFill>
                  <a:srgbClr val="FFFFFF"/>
                </a:solidFill>
                <a:latin typeface="Helvetica World"/>
                <a:ea typeface="Helvetica World"/>
                <a:cs typeface="Helvetica World"/>
                <a:sym typeface="Helvetica World"/>
              </a:rPr>
              <a:t>Lắng nghe nhu cầu của từng khách hàng, tư vấn giải pháp phù hợp, đồng hành từ khâu lên ý tưởng, thiết kế đến sản xuất và bàn giao, mang đến trải nghiệm dịch vụ chuyên nghiệp</a:t>
            </a:r>
          </a:p>
          <a:p>
            <a:pPr algn="just" marL="253858" indent="-126929" lvl="1">
              <a:lnSpc>
                <a:spcPts val="2245"/>
              </a:lnSpc>
              <a:buFont typeface="Arial"/>
              <a:buChar char="•"/>
            </a:pPr>
            <a:r>
              <a:rPr lang="en-US" sz="1175">
                <a:solidFill>
                  <a:srgbClr val="FFFFFF"/>
                </a:solidFill>
                <a:latin typeface="Helvetica World"/>
                <a:ea typeface="Helvetica World"/>
                <a:cs typeface="Helvetica World"/>
                <a:sym typeface="Helvetica World"/>
              </a:rPr>
              <a:t>Trách nhiệm</a:t>
            </a:r>
          </a:p>
          <a:p>
            <a:pPr algn="just">
              <a:lnSpc>
                <a:spcPts val="2245"/>
              </a:lnSpc>
            </a:pPr>
            <a:r>
              <a:rPr lang="en-US" sz="1175">
                <a:solidFill>
                  <a:srgbClr val="FFFFFF"/>
                </a:solidFill>
                <a:latin typeface="Helvetica World"/>
                <a:ea typeface="Helvetica World"/>
                <a:cs typeface="Helvetica World"/>
                <a:sym typeface="Helvetica World"/>
              </a:rPr>
              <a:t>Chịu trách nhiệm với từng sản phẩm cung cấp, thực hiện đầy đủ chính sách bảo hành của nhà sản xuất, không ngừng nâng cao chất lượng dịch vụ để tạo dựng sự tin tưởng và hợp tác bền vững.</a:t>
            </a:r>
          </a:p>
        </p:txBody>
      </p:sp>
      <p:sp>
        <p:nvSpPr>
          <p:cNvPr name="Freeform 12" id="12"/>
          <p:cNvSpPr/>
          <p:nvPr/>
        </p:nvSpPr>
        <p:spPr>
          <a:xfrm flipH="false" flipV="false" rot="0">
            <a:off x="37474" y="9774882"/>
            <a:ext cx="7485052" cy="846344"/>
          </a:xfrm>
          <a:custGeom>
            <a:avLst/>
            <a:gdLst/>
            <a:ahLst/>
            <a:cxnLst/>
            <a:rect r="r" b="b" t="t" l="l"/>
            <a:pathLst>
              <a:path h="846344" w="7485052">
                <a:moveTo>
                  <a:pt x="0" y="0"/>
                </a:moveTo>
                <a:lnTo>
                  <a:pt x="7485052" y="0"/>
                </a:lnTo>
                <a:lnTo>
                  <a:pt x="7485052" y="846344"/>
                </a:lnTo>
                <a:lnTo>
                  <a:pt x="0" y="846344"/>
                </a:lnTo>
                <a:lnTo>
                  <a:pt x="0" y="0"/>
                </a:lnTo>
                <a:close/>
              </a:path>
            </a:pathLst>
          </a:custGeom>
          <a:blipFill>
            <a:blip r:embed="rId3"/>
            <a:stretch>
              <a:fillRect l="-26658" t="0" r="-26658"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56000" y="9931237"/>
            <a:ext cx="6048000" cy="0"/>
          </a:xfrm>
          <a:prstGeom prst="line">
            <a:avLst/>
          </a:prstGeom>
          <a:ln cap="flat" w="9525">
            <a:solidFill>
              <a:srgbClr val="1D3A72"/>
            </a:solidFill>
            <a:prstDash val="solid"/>
            <a:headEnd type="none" len="sm" w="sm"/>
            <a:tailEnd type="none" len="sm" w="sm"/>
          </a:ln>
        </p:spPr>
      </p:sp>
      <p:sp>
        <p:nvSpPr>
          <p:cNvPr name="Freeform 3" id="3"/>
          <p:cNvSpPr/>
          <p:nvPr/>
        </p:nvSpPr>
        <p:spPr>
          <a:xfrm flipH="false" flipV="false" rot="0">
            <a:off x="108000" y="108000"/>
            <a:ext cx="7344000" cy="10476000"/>
          </a:xfrm>
          <a:custGeom>
            <a:avLst/>
            <a:gdLst/>
            <a:ahLst/>
            <a:cxnLst/>
            <a:rect r="r" b="b" t="t" l="l"/>
            <a:pathLst>
              <a:path h="10476000" w="7344000">
                <a:moveTo>
                  <a:pt x="0" y="0"/>
                </a:moveTo>
                <a:lnTo>
                  <a:pt x="7344000" y="0"/>
                </a:lnTo>
                <a:lnTo>
                  <a:pt x="7344000" y="10476000"/>
                </a:lnTo>
                <a:lnTo>
                  <a:pt x="0" y="10476000"/>
                </a:lnTo>
                <a:lnTo>
                  <a:pt x="0" y="0"/>
                </a:lnTo>
                <a:close/>
              </a:path>
            </a:pathLst>
          </a:custGeom>
          <a:blipFill>
            <a:blip r:embed="rId2"/>
            <a:stretch>
              <a:fillRect l="-385" t="0" r="-385" b="0"/>
            </a:stretch>
          </a:blipFill>
        </p:spPr>
      </p:sp>
      <p:sp>
        <p:nvSpPr>
          <p:cNvPr name="TextBox 4" id="4"/>
          <p:cNvSpPr txBox="true"/>
          <p:nvPr/>
        </p:nvSpPr>
        <p:spPr>
          <a:xfrm rot="0">
            <a:off x="756000" y="10040628"/>
            <a:ext cx="1866594" cy="174624"/>
          </a:xfrm>
          <a:prstGeom prst="rect">
            <a:avLst/>
          </a:prstGeom>
        </p:spPr>
        <p:txBody>
          <a:bodyPr anchor="t" rtlCol="false" tIns="0" lIns="0" bIns="0" rIns="0">
            <a:spAutoFit/>
          </a:bodyPr>
          <a:lstStyle/>
          <a:p>
            <a:pPr algn="l">
              <a:lnSpc>
                <a:spcPts val="1400"/>
              </a:lnSpc>
            </a:pPr>
            <a:r>
              <a:rPr lang="en-US" sz="1000">
                <a:solidFill>
                  <a:srgbClr val="2B2B2B"/>
                </a:solidFill>
                <a:latin typeface="Helvetica World"/>
                <a:ea typeface="Helvetica World"/>
                <a:cs typeface="Helvetica World"/>
                <a:sym typeface="Helvetica World"/>
              </a:rPr>
              <a:t>Borcelle Logistics</a:t>
            </a:r>
          </a:p>
        </p:txBody>
      </p:sp>
      <p:sp>
        <p:nvSpPr>
          <p:cNvPr name="TextBox 5" id="5"/>
          <p:cNvSpPr txBox="true"/>
          <p:nvPr/>
        </p:nvSpPr>
        <p:spPr>
          <a:xfrm rot="0">
            <a:off x="4937406" y="10040628"/>
            <a:ext cx="1866594" cy="174624"/>
          </a:xfrm>
          <a:prstGeom prst="rect">
            <a:avLst/>
          </a:prstGeom>
        </p:spPr>
        <p:txBody>
          <a:bodyPr anchor="t" rtlCol="false" tIns="0" lIns="0" bIns="0" rIns="0">
            <a:spAutoFit/>
          </a:bodyPr>
          <a:lstStyle/>
          <a:p>
            <a:pPr algn="r">
              <a:lnSpc>
                <a:spcPts val="1400"/>
              </a:lnSpc>
            </a:pPr>
            <a:r>
              <a:rPr lang="en-US" sz="1000">
                <a:solidFill>
                  <a:srgbClr val="2B2B2B"/>
                </a:solidFill>
                <a:latin typeface="Helvetica World"/>
                <a:ea typeface="Helvetica World"/>
                <a:cs typeface="Helvetica World"/>
                <a:sym typeface="Helvetica World"/>
              </a:rPr>
              <a:t>03</a:t>
            </a:r>
          </a:p>
        </p:txBody>
      </p:sp>
      <p:sp>
        <p:nvSpPr>
          <p:cNvPr name="Freeform 6" id="6"/>
          <p:cNvSpPr/>
          <p:nvPr/>
        </p:nvSpPr>
        <p:spPr>
          <a:xfrm flipH="false" flipV="false" rot="0">
            <a:off x="37474" y="9845656"/>
            <a:ext cx="7485052" cy="846344"/>
          </a:xfrm>
          <a:custGeom>
            <a:avLst/>
            <a:gdLst/>
            <a:ahLst/>
            <a:cxnLst/>
            <a:rect r="r" b="b" t="t" l="l"/>
            <a:pathLst>
              <a:path h="846344" w="7485052">
                <a:moveTo>
                  <a:pt x="0" y="0"/>
                </a:moveTo>
                <a:lnTo>
                  <a:pt x="7485052" y="0"/>
                </a:lnTo>
                <a:lnTo>
                  <a:pt x="7485052" y="846344"/>
                </a:lnTo>
                <a:lnTo>
                  <a:pt x="0" y="846344"/>
                </a:lnTo>
                <a:lnTo>
                  <a:pt x="0" y="0"/>
                </a:lnTo>
                <a:close/>
              </a:path>
            </a:pathLst>
          </a:custGeom>
          <a:blipFill>
            <a:blip r:embed="rId3"/>
            <a:stretch>
              <a:fillRect l="-26658" t="0" r="-26658" b="0"/>
            </a:stretch>
          </a:blipFill>
        </p:spPr>
      </p:sp>
      <p:sp>
        <p:nvSpPr>
          <p:cNvPr name="Freeform 7" id="7"/>
          <p:cNvSpPr/>
          <p:nvPr/>
        </p:nvSpPr>
        <p:spPr>
          <a:xfrm flipH="false" flipV="false" rot="0">
            <a:off x="2814943" y="373695"/>
            <a:ext cx="1930115" cy="1396734"/>
          </a:xfrm>
          <a:custGeom>
            <a:avLst/>
            <a:gdLst/>
            <a:ahLst/>
            <a:cxnLst/>
            <a:rect r="r" b="b" t="t" l="l"/>
            <a:pathLst>
              <a:path h="1396734" w="1930115">
                <a:moveTo>
                  <a:pt x="0" y="0"/>
                </a:moveTo>
                <a:lnTo>
                  <a:pt x="1930114" y="0"/>
                </a:lnTo>
                <a:lnTo>
                  <a:pt x="1930114" y="1396734"/>
                </a:lnTo>
                <a:lnTo>
                  <a:pt x="0" y="1396734"/>
                </a:lnTo>
                <a:lnTo>
                  <a:pt x="0" y="0"/>
                </a:lnTo>
                <a:close/>
              </a:path>
            </a:pathLst>
          </a:custGeom>
          <a:blipFill>
            <a:blip r:embed="rId4"/>
            <a:stretch>
              <a:fillRect l="0" t="0" r="0" b="0"/>
            </a:stretch>
          </a:blipFill>
        </p:spPr>
      </p:sp>
      <p:sp>
        <p:nvSpPr>
          <p:cNvPr name="TextBox 8" id="8"/>
          <p:cNvSpPr txBox="true"/>
          <p:nvPr/>
        </p:nvSpPr>
        <p:spPr>
          <a:xfrm rot="0">
            <a:off x="756000" y="7598051"/>
            <a:ext cx="5867427" cy="1445895"/>
          </a:xfrm>
          <a:prstGeom prst="rect">
            <a:avLst/>
          </a:prstGeom>
        </p:spPr>
        <p:txBody>
          <a:bodyPr anchor="t" rtlCol="false" tIns="0" lIns="0" bIns="0" rIns="0">
            <a:spAutoFit/>
          </a:bodyPr>
          <a:lstStyle/>
          <a:p>
            <a:pPr algn="l" marL="0" indent="0" lvl="1">
              <a:lnSpc>
                <a:spcPts val="1680"/>
              </a:lnSpc>
              <a:spcBef>
                <a:spcPct val="0"/>
              </a:spcBef>
            </a:pPr>
            <a:r>
              <a:rPr lang="en-US" sz="1200" strike="noStrike" u="none">
                <a:solidFill>
                  <a:srgbClr val="222444"/>
                </a:solidFill>
                <a:latin typeface="Helvetica World"/>
                <a:ea typeface="Helvetica World"/>
                <a:cs typeface="Helvetica World"/>
                <a:sym typeface="Helvetica World"/>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a:p>
            <a:pPr algn="l" marL="0" indent="0" lvl="1">
              <a:lnSpc>
                <a:spcPts val="1680"/>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37474" y="9774882"/>
            <a:ext cx="7485052" cy="846344"/>
          </a:xfrm>
          <a:custGeom>
            <a:avLst/>
            <a:gdLst/>
            <a:ahLst/>
            <a:cxnLst/>
            <a:rect r="r" b="b" t="t" l="l"/>
            <a:pathLst>
              <a:path h="846344" w="7485052">
                <a:moveTo>
                  <a:pt x="0" y="0"/>
                </a:moveTo>
                <a:lnTo>
                  <a:pt x="7485052" y="0"/>
                </a:lnTo>
                <a:lnTo>
                  <a:pt x="7485052" y="846344"/>
                </a:lnTo>
                <a:lnTo>
                  <a:pt x="0" y="846344"/>
                </a:lnTo>
                <a:lnTo>
                  <a:pt x="0" y="0"/>
                </a:lnTo>
                <a:close/>
              </a:path>
            </a:pathLst>
          </a:custGeom>
          <a:blipFill>
            <a:blip r:embed="rId2"/>
            <a:stretch>
              <a:fillRect l="-26658" t="0" r="-26658" b="0"/>
            </a:stretch>
          </a:blipFill>
        </p:spPr>
      </p:sp>
      <p:sp>
        <p:nvSpPr>
          <p:cNvPr name="Freeform 3" id="3"/>
          <p:cNvSpPr/>
          <p:nvPr/>
        </p:nvSpPr>
        <p:spPr>
          <a:xfrm flipH="false" flipV="false" rot="0">
            <a:off x="0" y="3577179"/>
            <a:ext cx="7560000" cy="6197703"/>
          </a:xfrm>
          <a:custGeom>
            <a:avLst/>
            <a:gdLst/>
            <a:ahLst/>
            <a:cxnLst/>
            <a:rect r="r" b="b" t="t" l="l"/>
            <a:pathLst>
              <a:path h="6197703" w="7560000">
                <a:moveTo>
                  <a:pt x="0" y="0"/>
                </a:moveTo>
                <a:lnTo>
                  <a:pt x="7560000" y="0"/>
                </a:lnTo>
                <a:lnTo>
                  <a:pt x="7560000" y="6197703"/>
                </a:lnTo>
                <a:lnTo>
                  <a:pt x="0" y="6197703"/>
                </a:lnTo>
                <a:lnTo>
                  <a:pt x="0" y="0"/>
                </a:lnTo>
                <a:close/>
              </a:path>
            </a:pathLst>
          </a:custGeom>
          <a:blipFill>
            <a:blip r:embed="rId3"/>
            <a:stretch>
              <a:fillRect l="0" t="0" r="0" b="0"/>
            </a:stretch>
          </a:blipFill>
        </p:spPr>
      </p:sp>
      <p:sp>
        <p:nvSpPr>
          <p:cNvPr name="TextBox 4" id="4"/>
          <p:cNvSpPr txBox="true"/>
          <p:nvPr/>
        </p:nvSpPr>
        <p:spPr>
          <a:xfrm rot="0">
            <a:off x="503651" y="2105250"/>
            <a:ext cx="6300349" cy="1471929"/>
          </a:xfrm>
          <a:prstGeom prst="rect">
            <a:avLst/>
          </a:prstGeom>
        </p:spPr>
        <p:txBody>
          <a:bodyPr anchor="t" rtlCol="false" tIns="0" lIns="0" bIns="0" rIns="0">
            <a:spAutoFit/>
          </a:bodyPr>
          <a:lstStyle/>
          <a:p>
            <a:pPr algn="ctr">
              <a:lnSpc>
                <a:spcPts val="3920"/>
              </a:lnSpc>
            </a:pPr>
            <a:r>
              <a:rPr lang="en-US" b="true" sz="2800" spc="176">
                <a:solidFill>
                  <a:srgbClr val="FFD21F"/>
                </a:solidFill>
                <a:latin typeface="Open Sauce Bold"/>
                <a:ea typeface="Open Sauce Bold"/>
                <a:cs typeface="Open Sauce Bold"/>
                <a:sym typeface="Open Sauce Bold"/>
              </a:rPr>
              <a:t>QUÀ TẶNG CAO CẤP </a:t>
            </a:r>
          </a:p>
          <a:p>
            <a:pPr algn="ctr">
              <a:lnSpc>
                <a:spcPts val="3920"/>
              </a:lnSpc>
            </a:pPr>
            <a:r>
              <a:rPr lang="en-US" b="true" sz="2800" spc="176">
                <a:solidFill>
                  <a:srgbClr val="FFD21F"/>
                </a:solidFill>
                <a:latin typeface="Open Sauce Bold"/>
                <a:ea typeface="Open Sauce Bold"/>
                <a:cs typeface="Open Sauce Bold"/>
                <a:sym typeface="Open Sauce Bold"/>
              </a:rPr>
              <a:t>&amp; GIFT SET DOANH NGHIỆP</a:t>
            </a:r>
          </a:p>
          <a:p>
            <a:pPr algn="l">
              <a:lnSpc>
                <a:spcPts val="3920"/>
              </a:lnSpc>
            </a:pPr>
          </a:p>
        </p:txBody>
      </p:sp>
      <p:sp>
        <p:nvSpPr>
          <p:cNvPr name="Freeform 5" id="5"/>
          <p:cNvSpPr/>
          <p:nvPr/>
        </p:nvSpPr>
        <p:spPr>
          <a:xfrm flipH="false" flipV="false" rot="0">
            <a:off x="3019284" y="640968"/>
            <a:ext cx="1521432" cy="1521432"/>
          </a:xfrm>
          <a:custGeom>
            <a:avLst/>
            <a:gdLst/>
            <a:ahLst/>
            <a:cxnLst/>
            <a:rect r="r" b="b" t="t" l="l"/>
            <a:pathLst>
              <a:path h="1521432" w="1521432">
                <a:moveTo>
                  <a:pt x="0" y="0"/>
                </a:moveTo>
                <a:lnTo>
                  <a:pt x="1521432" y="0"/>
                </a:lnTo>
                <a:lnTo>
                  <a:pt x="1521432" y="1521432"/>
                </a:lnTo>
                <a:lnTo>
                  <a:pt x="0" y="1521432"/>
                </a:lnTo>
                <a:lnTo>
                  <a:pt x="0" y="0"/>
                </a:lnTo>
                <a:close/>
              </a:path>
            </a:pathLst>
          </a:custGeom>
          <a:blipFill>
            <a:blip r:embed="rId4"/>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656951" cy="10692000"/>
          </a:xfrm>
          <a:custGeom>
            <a:avLst/>
            <a:gdLst/>
            <a:ahLst/>
            <a:cxnLst/>
            <a:rect r="r" b="b" t="t" l="l"/>
            <a:pathLst>
              <a:path h="10692000" w="7656951">
                <a:moveTo>
                  <a:pt x="0" y="0"/>
                </a:moveTo>
                <a:lnTo>
                  <a:pt x="7656951" y="0"/>
                </a:lnTo>
                <a:lnTo>
                  <a:pt x="7656951" y="10692000"/>
                </a:lnTo>
                <a:lnTo>
                  <a:pt x="0" y="10692000"/>
                </a:lnTo>
                <a:lnTo>
                  <a:pt x="0" y="0"/>
                </a:lnTo>
                <a:close/>
              </a:path>
            </a:pathLst>
          </a:custGeom>
          <a:blipFill>
            <a:blip r:embed="rId2"/>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54000" y="2300840"/>
            <a:ext cx="7452000" cy="8556000"/>
          </a:xfrm>
          <a:custGeom>
            <a:avLst/>
            <a:gdLst/>
            <a:ahLst/>
            <a:cxnLst/>
            <a:rect r="r" b="b" t="t" l="l"/>
            <a:pathLst>
              <a:path h="8556000" w="7452000">
                <a:moveTo>
                  <a:pt x="0" y="0"/>
                </a:moveTo>
                <a:lnTo>
                  <a:pt x="7452000" y="0"/>
                </a:lnTo>
                <a:lnTo>
                  <a:pt x="7452000" y="8556000"/>
                </a:lnTo>
                <a:lnTo>
                  <a:pt x="0" y="8556000"/>
                </a:lnTo>
                <a:lnTo>
                  <a:pt x="0" y="0"/>
                </a:lnTo>
                <a:close/>
              </a:path>
            </a:pathLst>
          </a:custGeom>
          <a:blipFill>
            <a:blip r:embed="rId2"/>
            <a:stretch>
              <a:fillRect l="0" t="0" r="0" b="0"/>
            </a:stretch>
          </a:blipFill>
        </p:spPr>
      </p:sp>
      <p:sp>
        <p:nvSpPr>
          <p:cNvPr name="Freeform 3" id="3"/>
          <p:cNvSpPr/>
          <p:nvPr/>
        </p:nvSpPr>
        <p:spPr>
          <a:xfrm flipH="false" flipV="false" rot="0">
            <a:off x="3019284" y="0"/>
            <a:ext cx="1521432" cy="1521432"/>
          </a:xfrm>
          <a:custGeom>
            <a:avLst/>
            <a:gdLst/>
            <a:ahLst/>
            <a:cxnLst/>
            <a:rect r="r" b="b" t="t" l="l"/>
            <a:pathLst>
              <a:path h="1521432" w="1521432">
                <a:moveTo>
                  <a:pt x="0" y="0"/>
                </a:moveTo>
                <a:lnTo>
                  <a:pt x="1521432" y="0"/>
                </a:lnTo>
                <a:lnTo>
                  <a:pt x="1521432" y="1521432"/>
                </a:lnTo>
                <a:lnTo>
                  <a:pt x="0" y="1521432"/>
                </a:lnTo>
                <a:lnTo>
                  <a:pt x="0" y="0"/>
                </a:lnTo>
                <a:close/>
              </a:path>
            </a:pathLst>
          </a:custGeom>
          <a:blipFill>
            <a:blip r:embed="rId3"/>
            <a:stretch>
              <a:fillRect l="0" t="0" r="0" b="0"/>
            </a:stretch>
          </a:blipFill>
        </p:spPr>
      </p:sp>
      <p:sp>
        <p:nvSpPr>
          <p:cNvPr name="TextBox 4" id="4"/>
          <p:cNvSpPr txBox="true"/>
          <p:nvPr/>
        </p:nvSpPr>
        <p:spPr>
          <a:xfrm rot="0">
            <a:off x="756000" y="1628237"/>
            <a:ext cx="6312849" cy="429533"/>
          </a:xfrm>
          <a:prstGeom prst="rect">
            <a:avLst/>
          </a:prstGeom>
        </p:spPr>
        <p:txBody>
          <a:bodyPr anchor="t" rtlCol="false" tIns="0" lIns="0" bIns="0" rIns="0">
            <a:spAutoFit/>
          </a:bodyPr>
          <a:lstStyle/>
          <a:p>
            <a:pPr algn="l">
              <a:lnSpc>
                <a:spcPts val="3306"/>
              </a:lnSpc>
            </a:pPr>
            <a:r>
              <a:rPr lang="en-US" sz="3005" b="true">
                <a:solidFill>
                  <a:srgbClr val="FFD21F"/>
                </a:solidFill>
                <a:latin typeface="Open Sauce Bold"/>
                <a:ea typeface="Open Sauce Bold"/>
                <a:cs typeface="Open Sauce Bold"/>
                <a:sym typeface="Open Sauce Bold"/>
              </a:rPr>
              <a:t>QUÀ TẶNG VĂN PHÒNG PHẨM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000" y="275722"/>
            <a:ext cx="7416000" cy="10284555"/>
          </a:xfrm>
          <a:custGeom>
            <a:avLst/>
            <a:gdLst/>
            <a:ahLst/>
            <a:cxnLst/>
            <a:rect r="r" b="b" t="t" l="l"/>
            <a:pathLst>
              <a:path h="10284555" w="7416000">
                <a:moveTo>
                  <a:pt x="0" y="0"/>
                </a:moveTo>
                <a:lnTo>
                  <a:pt x="7416000" y="0"/>
                </a:lnTo>
                <a:lnTo>
                  <a:pt x="7416000" y="10284556"/>
                </a:lnTo>
                <a:lnTo>
                  <a:pt x="0" y="10284556"/>
                </a:lnTo>
                <a:lnTo>
                  <a:pt x="0" y="0"/>
                </a:lnTo>
                <a:close/>
              </a:path>
            </a:pathLst>
          </a:custGeom>
          <a:blipFill>
            <a:blip r:embed="rId2"/>
            <a:stretch>
              <a:fillRect l="0" t="-490" r="0" b="-49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3019284" y="0"/>
            <a:ext cx="1521432" cy="1521432"/>
          </a:xfrm>
          <a:custGeom>
            <a:avLst/>
            <a:gdLst/>
            <a:ahLst/>
            <a:cxnLst/>
            <a:rect r="r" b="b" t="t" l="l"/>
            <a:pathLst>
              <a:path h="1521432" w="1521432">
                <a:moveTo>
                  <a:pt x="0" y="0"/>
                </a:moveTo>
                <a:lnTo>
                  <a:pt x="1521432" y="0"/>
                </a:lnTo>
                <a:lnTo>
                  <a:pt x="1521432" y="1521432"/>
                </a:lnTo>
                <a:lnTo>
                  <a:pt x="0" y="1521432"/>
                </a:lnTo>
                <a:lnTo>
                  <a:pt x="0" y="0"/>
                </a:lnTo>
                <a:close/>
              </a:path>
            </a:pathLst>
          </a:custGeom>
          <a:blipFill>
            <a:blip r:embed="rId2"/>
            <a:stretch>
              <a:fillRect l="0" t="0" r="0" b="0"/>
            </a:stretch>
          </a:blipFill>
        </p:spPr>
      </p:sp>
      <p:sp>
        <p:nvSpPr>
          <p:cNvPr name="Freeform 3" id="3"/>
          <p:cNvSpPr/>
          <p:nvPr/>
        </p:nvSpPr>
        <p:spPr>
          <a:xfrm flipH="false" flipV="false" rot="0">
            <a:off x="-15263" y="2259874"/>
            <a:ext cx="7563636" cy="8540951"/>
          </a:xfrm>
          <a:custGeom>
            <a:avLst/>
            <a:gdLst/>
            <a:ahLst/>
            <a:cxnLst/>
            <a:rect r="r" b="b" t="t" l="l"/>
            <a:pathLst>
              <a:path h="8540951" w="7563636">
                <a:moveTo>
                  <a:pt x="0" y="0"/>
                </a:moveTo>
                <a:lnTo>
                  <a:pt x="7563636" y="0"/>
                </a:lnTo>
                <a:lnTo>
                  <a:pt x="7563636" y="8540952"/>
                </a:lnTo>
                <a:lnTo>
                  <a:pt x="0" y="8540952"/>
                </a:lnTo>
                <a:lnTo>
                  <a:pt x="0" y="0"/>
                </a:lnTo>
                <a:close/>
              </a:path>
            </a:pathLst>
          </a:custGeom>
          <a:blipFill>
            <a:blip r:embed="rId3"/>
            <a:stretch>
              <a:fillRect l="0" t="-2959" r="0" b="-960"/>
            </a:stretch>
          </a:blipFill>
        </p:spPr>
      </p:sp>
      <p:sp>
        <p:nvSpPr>
          <p:cNvPr name="TextBox 4" id="4"/>
          <p:cNvSpPr txBox="true"/>
          <p:nvPr/>
        </p:nvSpPr>
        <p:spPr>
          <a:xfrm rot="0">
            <a:off x="294482" y="1637762"/>
            <a:ext cx="7253891" cy="356946"/>
          </a:xfrm>
          <a:prstGeom prst="rect">
            <a:avLst/>
          </a:prstGeom>
        </p:spPr>
        <p:txBody>
          <a:bodyPr anchor="t" rtlCol="false" tIns="0" lIns="0" bIns="0" rIns="0">
            <a:spAutoFit/>
          </a:bodyPr>
          <a:lstStyle/>
          <a:p>
            <a:pPr algn="l">
              <a:lnSpc>
                <a:spcPts val="2866"/>
              </a:lnSpc>
            </a:pPr>
            <a:r>
              <a:rPr lang="en-US" sz="2606" b="true">
                <a:solidFill>
                  <a:srgbClr val="FFD21F"/>
                </a:solidFill>
                <a:latin typeface="Open Sauce Bold"/>
                <a:ea typeface="Open Sauce Bold"/>
                <a:cs typeface="Open Sauce Bold"/>
                <a:sym typeface="Open Sauce Bold"/>
              </a:rPr>
              <a:t>QUÀ TẶNG HỘI NGHỊ - SỰ KIỆN - KỶ NIỆM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6745" y="180947"/>
            <a:ext cx="7226509" cy="10330105"/>
          </a:xfrm>
          <a:custGeom>
            <a:avLst/>
            <a:gdLst/>
            <a:ahLst/>
            <a:cxnLst/>
            <a:rect r="r" b="b" t="t" l="l"/>
            <a:pathLst>
              <a:path h="10330105" w="7226509">
                <a:moveTo>
                  <a:pt x="0" y="0"/>
                </a:moveTo>
                <a:lnTo>
                  <a:pt x="7226510" y="0"/>
                </a:lnTo>
                <a:lnTo>
                  <a:pt x="7226510" y="10330106"/>
                </a:lnTo>
                <a:lnTo>
                  <a:pt x="0" y="10330106"/>
                </a:lnTo>
                <a:lnTo>
                  <a:pt x="0" y="0"/>
                </a:lnTo>
                <a:close/>
              </a:path>
            </a:pathLst>
          </a:custGeom>
          <a:blipFill>
            <a:blip r:embed="rId2"/>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3019284" y="108000"/>
            <a:ext cx="1521432" cy="1521432"/>
          </a:xfrm>
          <a:custGeom>
            <a:avLst/>
            <a:gdLst/>
            <a:ahLst/>
            <a:cxnLst/>
            <a:rect r="r" b="b" t="t" l="l"/>
            <a:pathLst>
              <a:path h="1521432" w="1521432">
                <a:moveTo>
                  <a:pt x="0" y="0"/>
                </a:moveTo>
                <a:lnTo>
                  <a:pt x="1521432" y="0"/>
                </a:lnTo>
                <a:lnTo>
                  <a:pt x="1521432" y="1521432"/>
                </a:lnTo>
                <a:lnTo>
                  <a:pt x="0" y="1521432"/>
                </a:lnTo>
                <a:lnTo>
                  <a:pt x="0" y="0"/>
                </a:lnTo>
                <a:close/>
              </a:path>
            </a:pathLst>
          </a:custGeom>
          <a:blipFill>
            <a:blip r:embed="rId2"/>
            <a:stretch>
              <a:fillRect l="0" t="0" r="0" b="0"/>
            </a:stretch>
          </a:blipFill>
        </p:spPr>
      </p:sp>
      <p:sp>
        <p:nvSpPr>
          <p:cNvPr name="TextBox 3" id="3"/>
          <p:cNvSpPr txBox="true"/>
          <p:nvPr/>
        </p:nvSpPr>
        <p:spPr>
          <a:xfrm rot="0">
            <a:off x="1593381" y="1814276"/>
            <a:ext cx="7253891" cy="356946"/>
          </a:xfrm>
          <a:prstGeom prst="rect">
            <a:avLst/>
          </a:prstGeom>
        </p:spPr>
        <p:txBody>
          <a:bodyPr anchor="t" rtlCol="false" tIns="0" lIns="0" bIns="0" rIns="0">
            <a:spAutoFit/>
          </a:bodyPr>
          <a:lstStyle/>
          <a:p>
            <a:pPr algn="l">
              <a:lnSpc>
                <a:spcPts val="2866"/>
              </a:lnSpc>
            </a:pPr>
            <a:r>
              <a:rPr lang="en-US" sz="2606" b="true">
                <a:solidFill>
                  <a:srgbClr val="FFD21F"/>
                </a:solidFill>
                <a:latin typeface="Open Sauce Bold"/>
                <a:ea typeface="Open Sauce Bold"/>
                <a:cs typeface="Open Sauce Bold"/>
                <a:sym typeface="Open Sauce Bold"/>
              </a:rPr>
              <a:t>QUÀ TẶNG QUẢNG CÁO</a:t>
            </a:r>
          </a:p>
        </p:txBody>
      </p:sp>
      <p:sp>
        <p:nvSpPr>
          <p:cNvPr name="Freeform 4" id="4"/>
          <p:cNvSpPr/>
          <p:nvPr/>
        </p:nvSpPr>
        <p:spPr>
          <a:xfrm flipH="false" flipV="false" rot="0">
            <a:off x="-56332" y="2675839"/>
            <a:ext cx="7508332" cy="6690303"/>
          </a:xfrm>
          <a:custGeom>
            <a:avLst/>
            <a:gdLst/>
            <a:ahLst/>
            <a:cxnLst/>
            <a:rect r="r" b="b" t="t" l="l"/>
            <a:pathLst>
              <a:path h="6690303" w="7508332">
                <a:moveTo>
                  <a:pt x="0" y="0"/>
                </a:moveTo>
                <a:lnTo>
                  <a:pt x="7508332" y="0"/>
                </a:lnTo>
                <a:lnTo>
                  <a:pt x="7508332" y="6690303"/>
                </a:lnTo>
                <a:lnTo>
                  <a:pt x="0" y="6690303"/>
                </a:lnTo>
                <a:lnTo>
                  <a:pt x="0" y="0"/>
                </a:lnTo>
                <a:close/>
              </a:path>
            </a:pathLst>
          </a:custGeom>
          <a:blipFill>
            <a:blip r:embed="rId3"/>
            <a:stretch>
              <a:fillRect l="0" t="0" r="0" b="0"/>
            </a:stretch>
          </a:blipFill>
        </p:spPr>
      </p:sp>
      <p:sp>
        <p:nvSpPr>
          <p:cNvPr name="Freeform 5" id="5"/>
          <p:cNvSpPr/>
          <p:nvPr/>
        </p:nvSpPr>
        <p:spPr>
          <a:xfrm flipH="false" flipV="false" rot="0">
            <a:off x="37474" y="9774882"/>
            <a:ext cx="7485052" cy="846344"/>
          </a:xfrm>
          <a:custGeom>
            <a:avLst/>
            <a:gdLst/>
            <a:ahLst/>
            <a:cxnLst/>
            <a:rect r="r" b="b" t="t" l="l"/>
            <a:pathLst>
              <a:path h="846344" w="7485052">
                <a:moveTo>
                  <a:pt x="0" y="0"/>
                </a:moveTo>
                <a:lnTo>
                  <a:pt x="7485052" y="0"/>
                </a:lnTo>
                <a:lnTo>
                  <a:pt x="7485052" y="846344"/>
                </a:lnTo>
                <a:lnTo>
                  <a:pt x="0" y="846344"/>
                </a:lnTo>
                <a:lnTo>
                  <a:pt x="0" y="0"/>
                </a:lnTo>
                <a:close/>
              </a:path>
            </a:pathLst>
          </a:custGeom>
          <a:blipFill>
            <a:blip r:embed="rId4"/>
            <a:stretch>
              <a:fillRect l="-26658" t="0" r="-26658"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Freeform 2" id="2"/>
          <p:cNvSpPr/>
          <p:nvPr/>
        </p:nvSpPr>
        <p:spPr>
          <a:xfrm flipH="false" flipV="false" rot="0">
            <a:off x="0" y="108000"/>
            <a:ext cx="7377206" cy="10652499"/>
          </a:xfrm>
          <a:custGeom>
            <a:avLst/>
            <a:gdLst/>
            <a:ahLst/>
            <a:cxnLst/>
            <a:rect r="r" b="b" t="t" l="l"/>
            <a:pathLst>
              <a:path h="10652499" w="7377206">
                <a:moveTo>
                  <a:pt x="0" y="0"/>
                </a:moveTo>
                <a:lnTo>
                  <a:pt x="7377206" y="0"/>
                </a:lnTo>
                <a:lnTo>
                  <a:pt x="7377206" y="10652499"/>
                </a:lnTo>
                <a:lnTo>
                  <a:pt x="0" y="10652499"/>
                </a:lnTo>
                <a:lnTo>
                  <a:pt x="0" y="0"/>
                </a:lnTo>
                <a:close/>
              </a:path>
            </a:pathLst>
          </a:custGeom>
          <a:blipFill>
            <a:blip r:embed="rId2"/>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3019284" y="108000"/>
            <a:ext cx="1521432" cy="1521432"/>
          </a:xfrm>
          <a:custGeom>
            <a:avLst/>
            <a:gdLst/>
            <a:ahLst/>
            <a:cxnLst/>
            <a:rect r="r" b="b" t="t" l="l"/>
            <a:pathLst>
              <a:path h="1521432" w="1521432">
                <a:moveTo>
                  <a:pt x="0" y="0"/>
                </a:moveTo>
                <a:lnTo>
                  <a:pt x="1521432" y="0"/>
                </a:lnTo>
                <a:lnTo>
                  <a:pt x="1521432" y="1521432"/>
                </a:lnTo>
                <a:lnTo>
                  <a:pt x="0" y="1521432"/>
                </a:lnTo>
                <a:lnTo>
                  <a:pt x="0" y="0"/>
                </a:lnTo>
                <a:close/>
              </a:path>
            </a:pathLst>
          </a:custGeom>
          <a:blipFill>
            <a:blip r:embed="rId2"/>
            <a:stretch>
              <a:fillRect l="0" t="0" r="0" b="0"/>
            </a:stretch>
          </a:blipFill>
        </p:spPr>
      </p:sp>
      <p:sp>
        <p:nvSpPr>
          <p:cNvPr name="Freeform 3" id="3"/>
          <p:cNvSpPr/>
          <p:nvPr/>
        </p:nvSpPr>
        <p:spPr>
          <a:xfrm flipH="false" flipV="false" rot="0">
            <a:off x="-17043" y="2644054"/>
            <a:ext cx="7570638" cy="8047946"/>
          </a:xfrm>
          <a:custGeom>
            <a:avLst/>
            <a:gdLst/>
            <a:ahLst/>
            <a:cxnLst/>
            <a:rect r="r" b="b" t="t" l="l"/>
            <a:pathLst>
              <a:path h="8047946" w="7570638">
                <a:moveTo>
                  <a:pt x="0" y="0"/>
                </a:moveTo>
                <a:lnTo>
                  <a:pt x="7570638" y="0"/>
                </a:lnTo>
                <a:lnTo>
                  <a:pt x="7570638" y="8047946"/>
                </a:lnTo>
                <a:lnTo>
                  <a:pt x="0" y="8047946"/>
                </a:lnTo>
                <a:lnTo>
                  <a:pt x="0" y="0"/>
                </a:lnTo>
                <a:close/>
              </a:path>
            </a:pathLst>
          </a:custGeom>
          <a:blipFill>
            <a:blip r:embed="rId3"/>
            <a:stretch>
              <a:fillRect l="0" t="0" r="0" b="0"/>
            </a:stretch>
          </a:blipFill>
        </p:spPr>
      </p:sp>
      <p:sp>
        <p:nvSpPr>
          <p:cNvPr name="TextBox 4" id="4"/>
          <p:cNvSpPr txBox="true"/>
          <p:nvPr/>
        </p:nvSpPr>
        <p:spPr>
          <a:xfrm rot="0">
            <a:off x="0" y="1667532"/>
            <a:ext cx="7253891" cy="718896"/>
          </a:xfrm>
          <a:prstGeom prst="rect">
            <a:avLst/>
          </a:prstGeom>
        </p:spPr>
        <p:txBody>
          <a:bodyPr anchor="t" rtlCol="false" tIns="0" lIns="0" bIns="0" rIns="0">
            <a:spAutoFit/>
          </a:bodyPr>
          <a:lstStyle/>
          <a:p>
            <a:pPr algn="ctr">
              <a:lnSpc>
                <a:spcPts val="2866"/>
              </a:lnSpc>
            </a:pPr>
            <a:r>
              <a:rPr lang="en-US" b="true" sz="2606">
                <a:solidFill>
                  <a:srgbClr val="FFD21F"/>
                </a:solidFill>
                <a:latin typeface="Open Sauce Bold"/>
                <a:ea typeface="Open Sauce Bold"/>
                <a:cs typeface="Open Sauce Bold"/>
                <a:sym typeface="Open Sauce Bold"/>
              </a:rPr>
              <a:t>QUÀ TẶNG THEO DỊP LỄ, MÙA VỤ</a:t>
            </a:r>
          </a:p>
          <a:p>
            <a:pPr algn="ctr">
              <a:lnSpc>
                <a:spcPts val="2866"/>
              </a:lnSpc>
            </a:pPr>
            <a:r>
              <a:rPr lang="en-US" b="true" sz="2606">
                <a:solidFill>
                  <a:srgbClr val="FFD21F"/>
                </a:solidFill>
                <a:latin typeface="Open Sauce Bold"/>
                <a:ea typeface="Open Sauce Bold"/>
                <a:cs typeface="Open Sauce Bold"/>
                <a:sym typeface="Open Sauce Bold"/>
              </a:rPr>
              <a:t>\&amp; CHIẾN DỊCH ĐẶC BIỆT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1128" y="108000"/>
            <a:ext cx="7450750" cy="10524748"/>
          </a:xfrm>
          <a:custGeom>
            <a:avLst/>
            <a:gdLst/>
            <a:ahLst/>
            <a:cxnLst/>
            <a:rect r="r" b="b" t="t" l="l"/>
            <a:pathLst>
              <a:path h="10524748" w="7450750">
                <a:moveTo>
                  <a:pt x="0" y="0"/>
                </a:moveTo>
                <a:lnTo>
                  <a:pt x="7450750" y="0"/>
                </a:lnTo>
                <a:lnTo>
                  <a:pt x="7450750" y="10524748"/>
                </a:lnTo>
                <a:lnTo>
                  <a:pt x="0" y="10524748"/>
                </a:lnTo>
                <a:lnTo>
                  <a:pt x="0" y="0"/>
                </a:lnTo>
                <a:close/>
              </a:path>
            </a:pathLst>
          </a:custGeom>
          <a:blipFill>
            <a:blip r:embed="rId2"/>
            <a:stretch>
              <a:fillRect l="0" t="0" r="0" b="-1764"/>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3019284" y="108000"/>
            <a:ext cx="1521432" cy="1521432"/>
          </a:xfrm>
          <a:custGeom>
            <a:avLst/>
            <a:gdLst/>
            <a:ahLst/>
            <a:cxnLst/>
            <a:rect r="r" b="b" t="t" l="l"/>
            <a:pathLst>
              <a:path h="1521432" w="1521432">
                <a:moveTo>
                  <a:pt x="0" y="0"/>
                </a:moveTo>
                <a:lnTo>
                  <a:pt x="1521432" y="0"/>
                </a:lnTo>
                <a:lnTo>
                  <a:pt x="1521432" y="1521432"/>
                </a:lnTo>
                <a:lnTo>
                  <a:pt x="0" y="1521432"/>
                </a:lnTo>
                <a:lnTo>
                  <a:pt x="0" y="0"/>
                </a:lnTo>
                <a:close/>
              </a:path>
            </a:pathLst>
          </a:custGeom>
          <a:blipFill>
            <a:blip r:embed="rId2"/>
            <a:stretch>
              <a:fillRect l="0" t="0" r="0" b="0"/>
            </a:stretch>
          </a:blipFill>
        </p:spPr>
      </p:sp>
      <p:sp>
        <p:nvSpPr>
          <p:cNvPr name="Freeform 3" id="3"/>
          <p:cNvSpPr/>
          <p:nvPr/>
        </p:nvSpPr>
        <p:spPr>
          <a:xfrm flipH="false" flipV="false" rot="0">
            <a:off x="0" y="2579194"/>
            <a:ext cx="7560000" cy="8112806"/>
          </a:xfrm>
          <a:custGeom>
            <a:avLst/>
            <a:gdLst/>
            <a:ahLst/>
            <a:cxnLst/>
            <a:rect r="r" b="b" t="t" l="l"/>
            <a:pathLst>
              <a:path h="8112806" w="7560000">
                <a:moveTo>
                  <a:pt x="0" y="0"/>
                </a:moveTo>
                <a:lnTo>
                  <a:pt x="7560000" y="0"/>
                </a:lnTo>
                <a:lnTo>
                  <a:pt x="7560000" y="8112806"/>
                </a:lnTo>
                <a:lnTo>
                  <a:pt x="0" y="8112806"/>
                </a:lnTo>
                <a:lnTo>
                  <a:pt x="0" y="0"/>
                </a:lnTo>
                <a:close/>
              </a:path>
            </a:pathLst>
          </a:custGeom>
          <a:blipFill>
            <a:blip r:embed="rId3"/>
            <a:stretch>
              <a:fillRect l="0" t="0" r="0" b="0"/>
            </a:stretch>
          </a:blipFill>
        </p:spPr>
      </p:sp>
      <p:sp>
        <p:nvSpPr>
          <p:cNvPr name="TextBox 4" id="4"/>
          <p:cNvSpPr txBox="true"/>
          <p:nvPr/>
        </p:nvSpPr>
        <p:spPr>
          <a:xfrm rot="0">
            <a:off x="0" y="1667532"/>
            <a:ext cx="7253891" cy="718896"/>
          </a:xfrm>
          <a:prstGeom prst="rect">
            <a:avLst/>
          </a:prstGeom>
        </p:spPr>
        <p:txBody>
          <a:bodyPr anchor="t" rtlCol="false" tIns="0" lIns="0" bIns="0" rIns="0">
            <a:spAutoFit/>
          </a:bodyPr>
          <a:lstStyle/>
          <a:p>
            <a:pPr algn="ctr">
              <a:lnSpc>
                <a:spcPts val="2866"/>
              </a:lnSpc>
            </a:pPr>
            <a:r>
              <a:rPr lang="en-US" b="true" sz="2606">
                <a:solidFill>
                  <a:srgbClr val="FFD21F"/>
                </a:solidFill>
                <a:latin typeface="Open Sauce Bold"/>
                <a:ea typeface="Open Sauce Bold"/>
                <a:cs typeface="Open Sauce Bold"/>
                <a:sym typeface="Open Sauce Bold"/>
              </a:rPr>
              <a:t>QUÀ TẶNG CÔNG NGHỆ </a:t>
            </a:r>
          </a:p>
          <a:p>
            <a:pPr algn="ctr">
              <a:lnSpc>
                <a:spcPts val="2866"/>
              </a:lnSpc>
            </a:pPr>
            <a:r>
              <a:rPr lang="en-US" b="true" sz="2606">
                <a:solidFill>
                  <a:srgbClr val="FFD21F"/>
                </a:solidFill>
                <a:latin typeface="Open Sauce Bold"/>
                <a:ea typeface="Open Sauce Bold"/>
                <a:cs typeface="Open Sauce Bold"/>
                <a:sym typeface="Open Sauce Bold"/>
              </a:rPr>
              <a:t>&amp; PHỤ KIỆN HIỆN ĐẠI</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9355" y="108000"/>
            <a:ext cx="7341290" cy="10476000"/>
          </a:xfrm>
          <a:custGeom>
            <a:avLst/>
            <a:gdLst/>
            <a:ahLst/>
            <a:cxnLst/>
            <a:rect r="r" b="b" t="t" l="l"/>
            <a:pathLst>
              <a:path h="10476000" w="7341290">
                <a:moveTo>
                  <a:pt x="0" y="0"/>
                </a:moveTo>
                <a:lnTo>
                  <a:pt x="7341290" y="0"/>
                </a:lnTo>
                <a:lnTo>
                  <a:pt x="7341290" y="10476000"/>
                </a:lnTo>
                <a:lnTo>
                  <a:pt x="0" y="10476000"/>
                </a:lnTo>
                <a:lnTo>
                  <a:pt x="0" y="0"/>
                </a:lnTo>
                <a:close/>
              </a:path>
            </a:pathLst>
          </a:custGeom>
          <a:blipFill>
            <a:blip r:embed="rId2"/>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3019284" y="-4716"/>
            <a:ext cx="1521432" cy="1521432"/>
          </a:xfrm>
          <a:custGeom>
            <a:avLst/>
            <a:gdLst/>
            <a:ahLst/>
            <a:cxnLst/>
            <a:rect r="r" b="b" t="t" l="l"/>
            <a:pathLst>
              <a:path h="1521432" w="1521432">
                <a:moveTo>
                  <a:pt x="0" y="0"/>
                </a:moveTo>
                <a:lnTo>
                  <a:pt x="1521432" y="0"/>
                </a:lnTo>
                <a:lnTo>
                  <a:pt x="1521432" y="1521432"/>
                </a:lnTo>
                <a:lnTo>
                  <a:pt x="0" y="1521432"/>
                </a:lnTo>
                <a:lnTo>
                  <a:pt x="0" y="0"/>
                </a:lnTo>
                <a:close/>
              </a:path>
            </a:pathLst>
          </a:custGeom>
          <a:blipFill>
            <a:blip r:embed="rId2"/>
            <a:stretch>
              <a:fillRect l="0" t="0" r="0" b="0"/>
            </a:stretch>
          </a:blipFill>
        </p:spPr>
      </p:sp>
      <p:sp>
        <p:nvSpPr>
          <p:cNvPr name="Freeform 3" id="3"/>
          <p:cNvSpPr/>
          <p:nvPr/>
        </p:nvSpPr>
        <p:spPr>
          <a:xfrm flipH="false" flipV="false" rot="0">
            <a:off x="-53361" y="2766024"/>
            <a:ext cx="7613361" cy="7925976"/>
          </a:xfrm>
          <a:custGeom>
            <a:avLst/>
            <a:gdLst/>
            <a:ahLst/>
            <a:cxnLst/>
            <a:rect r="r" b="b" t="t" l="l"/>
            <a:pathLst>
              <a:path h="7925976" w="7613361">
                <a:moveTo>
                  <a:pt x="0" y="0"/>
                </a:moveTo>
                <a:lnTo>
                  <a:pt x="7613361" y="0"/>
                </a:lnTo>
                <a:lnTo>
                  <a:pt x="7613361" y="7925976"/>
                </a:lnTo>
                <a:lnTo>
                  <a:pt x="0" y="7925976"/>
                </a:lnTo>
                <a:lnTo>
                  <a:pt x="0" y="0"/>
                </a:lnTo>
                <a:close/>
              </a:path>
            </a:pathLst>
          </a:custGeom>
          <a:blipFill>
            <a:blip r:embed="rId3"/>
            <a:stretch>
              <a:fillRect l="0" t="-719" r="0" b="-719"/>
            </a:stretch>
          </a:blipFill>
        </p:spPr>
      </p:sp>
      <p:sp>
        <p:nvSpPr>
          <p:cNvPr name="TextBox 4" id="4"/>
          <p:cNvSpPr txBox="true"/>
          <p:nvPr/>
        </p:nvSpPr>
        <p:spPr>
          <a:xfrm rot="0">
            <a:off x="27320" y="1554816"/>
            <a:ext cx="7452000" cy="739216"/>
          </a:xfrm>
          <a:prstGeom prst="rect">
            <a:avLst/>
          </a:prstGeom>
        </p:spPr>
        <p:txBody>
          <a:bodyPr anchor="t" rtlCol="false" tIns="0" lIns="0" bIns="0" rIns="0">
            <a:spAutoFit/>
          </a:bodyPr>
          <a:lstStyle/>
          <a:p>
            <a:pPr algn="ctr">
              <a:lnSpc>
                <a:spcPts val="2976"/>
              </a:lnSpc>
            </a:pPr>
            <a:r>
              <a:rPr lang="en-US" b="true" sz="2706">
                <a:solidFill>
                  <a:srgbClr val="FFD21F"/>
                </a:solidFill>
                <a:latin typeface="Open Sauce Bold"/>
                <a:ea typeface="Open Sauce Bold"/>
                <a:cs typeface="Open Sauce Bold"/>
                <a:sym typeface="Open Sauce Bold"/>
              </a:rPr>
              <a:t>SẢN PHẨM CHĂM SÓC CÁ NHÂN</a:t>
            </a:r>
          </a:p>
          <a:p>
            <a:pPr algn="ctr">
              <a:lnSpc>
                <a:spcPts val="2976"/>
              </a:lnSpc>
            </a:pPr>
            <a:r>
              <a:rPr lang="en-US" b="true" sz="2706">
                <a:solidFill>
                  <a:srgbClr val="FFD21F"/>
                </a:solidFill>
                <a:latin typeface="Open Sauce Bold"/>
                <a:ea typeface="Open Sauce Bold"/>
                <a:cs typeface="Open Sauce Bold"/>
                <a:sym typeface="Open Sauce Bold"/>
              </a:rPr>
              <a:t>&amp; TIỆN ÍCH</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8000" y="85551"/>
            <a:ext cx="7242437" cy="10375401"/>
          </a:xfrm>
          <a:custGeom>
            <a:avLst/>
            <a:gdLst/>
            <a:ahLst/>
            <a:cxnLst/>
            <a:rect r="r" b="b" t="t" l="l"/>
            <a:pathLst>
              <a:path h="10375401" w="7242437">
                <a:moveTo>
                  <a:pt x="0" y="0"/>
                </a:moveTo>
                <a:lnTo>
                  <a:pt x="7242437" y="0"/>
                </a:lnTo>
                <a:lnTo>
                  <a:pt x="7242437" y="10375400"/>
                </a:lnTo>
                <a:lnTo>
                  <a:pt x="0" y="10375400"/>
                </a:lnTo>
                <a:lnTo>
                  <a:pt x="0" y="0"/>
                </a:lnTo>
                <a:close/>
              </a:path>
            </a:pathLst>
          </a:custGeom>
          <a:blipFill>
            <a:blip r:embed="rId2"/>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2965284" y="217047"/>
            <a:ext cx="1521432" cy="1521432"/>
          </a:xfrm>
          <a:custGeom>
            <a:avLst/>
            <a:gdLst/>
            <a:ahLst/>
            <a:cxnLst/>
            <a:rect r="r" b="b" t="t" l="l"/>
            <a:pathLst>
              <a:path h="1521432" w="1521432">
                <a:moveTo>
                  <a:pt x="0" y="0"/>
                </a:moveTo>
                <a:lnTo>
                  <a:pt x="1521432" y="0"/>
                </a:lnTo>
                <a:lnTo>
                  <a:pt x="1521432" y="1521433"/>
                </a:lnTo>
                <a:lnTo>
                  <a:pt x="0" y="1521433"/>
                </a:lnTo>
                <a:lnTo>
                  <a:pt x="0" y="0"/>
                </a:lnTo>
                <a:close/>
              </a:path>
            </a:pathLst>
          </a:custGeom>
          <a:blipFill>
            <a:blip r:embed="rId2"/>
            <a:stretch>
              <a:fillRect l="0" t="0" r="0" b="0"/>
            </a:stretch>
          </a:blipFill>
        </p:spPr>
      </p:sp>
      <p:sp>
        <p:nvSpPr>
          <p:cNvPr name="TextBox 3" id="3"/>
          <p:cNvSpPr txBox="true"/>
          <p:nvPr/>
        </p:nvSpPr>
        <p:spPr>
          <a:xfrm rot="0">
            <a:off x="0" y="1982503"/>
            <a:ext cx="7452000" cy="367741"/>
          </a:xfrm>
          <a:prstGeom prst="rect">
            <a:avLst/>
          </a:prstGeom>
        </p:spPr>
        <p:txBody>
          <a:bodyPr anchor="t" rtlCol="false" tIns="0" lIns="0" bIns="0" rIns="0">
            <a:spAutoFit/>
          </a:bodyPr>
          <a:lstStyle/>
          <a:p>
            <a:pPr algn="ctr">
              <a:lnSpc>
                <a:spcPts val="2976"/>
              </a:lnSpc>
            </a:pPr>
            <a:r>
              <a:rPr lang="en-US" b="true" sz="2706">
                <a:solidFill>
                  <a:srgbClr val="FFD21F"/>
                </a:solidFill>
                <a:latin typeface="Open Sauce Bold"/>
                <a:ea typeface="Open Sauce Bold"/>
                <a:cs typeface="Open Sauce Bold"/>
                <a:sym typeface="Open Sauce Bold"/>
              </a:rPr>
              <a:t>QUÀ TẶNG ECO FRIENDLY</a:t>
            </a:r>
          </a:p>
        </p:txBody>
      </p:sp>
      <p:sp>
        <p:nvSpPr>
          <p:cNvPr name="Freeform 4" id="4"/>
          <p:cNvSpPr/>
          <p:nvPr/>
        </p:nvSpPr>
        <p:spPr>
          <a:xfrm flipH="false" flipV="false" rot="0">
            <a:off x="27320" y="2788643"/>
            <a:ext cx="7532680" cy="7903357"/>
          </a:xfrm>
          <a:custGeom>
            <a:avLst/>
            <a:gdLst/>
            <a:ahLst/>
            <a:cxnLst/>
            <a:rect r="r" b="b" t="t" l="l"/>
            <a:pathLst>
              <a:path h="7903357" w="7532680">
                <a:moveTo>
                  <a:pt x="0" y="0"/>
                </a:moveTo>
                <a:lnTo>
                  <a:pt x="7532680" y="0"/>
                </a:lnTo>
                <a:lnTo>
                  <a:pt x="7532680" y="7903357"/>
                </a:lnTo>
                <a:lnTo>
                  <a:pt x="0" y="7903357"/>
                </a:lnTo>
                <a:lnTo>
                  <a:pt x="0" y="0"/>
                </a:lnTo>
                <a:close/>
              </a:path>
            </a:pathLst>
          </a:custGeom>
          <a:blipFill>
            <a:blip r:embed="rId3"/>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8000" y="114248"/>
            <a:ext cx="7344000" cy="10469752"/>
          </a:xfrm>
          <a:custGeom>
            <a:avLst/>
            <a:gdLst/>
            <a:ahLst/>
            <a:cxnLst/>
            <a:rect r="r" b="b" t="t" l="l"/>
            <a:pathLst>
              <a:path h="10469752" w="7344000">
                <a:moveTo>
                  <a:pt x="0" y="0"/>
                </a:moveTo>
                <a:lnTo>
                  <a:pt x="7344000" y="0"/>
                </a:lnTo>
                <a:lnTo>
                  <a:pt x="7344000" y="10469752"/>
                </a:lnTo>
                <a:lnTo>
                  <a:pt x="0" y="10469752"/>
                </a:lnTo>
                <a:lnTo>
                  <a:pt x="0" y="0"/>
                </a:lnTo>
                <a:close/>
              </a:path>
            </a:pathLst>
          </a:custGeom>
          <a:blipFill>
            <a:blip r:embed="rId2"/>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9697" y="-238022"/>
            <a:ext cx="7645047" cy="10822022"/>
          </a:xfrm>
          <a:custGeom>
            <a:avLst/>
            <a:gdLst/>
            <a:ahLst/>
            <a:cxnLst/>
            <a:rect r="r" b="b" t="t" l="l"/>
            <a:pathLst>
              <a:path h="10822022" w="7645047">
                <a:moveTo>
                  <a:pt x="0" y="0"/>
                </a:moveTo>
                <a:lnTo>
                  <a:pt x="7645048" y="0"/>
                </a:lnTo>
                <a:lnTo>
                  <a:pt x="7645048" y="10822022"/>
                </a:lnTo>
                <a:lnTo>
                  <a:pt x="0" y="10822022"/>
                </a:lnTo>
                <a:lnTo>
                  <a:pt x="0" y="0"/>
                </a:lnTo>
                <a:close/>
              </a:path>
            </a:pathLst>
          </a:custGeom>
          <a:blipFill>
            <a:blip r:embed="rId2"/>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8000" y="113016"/>
            <a:ext cx="7485465" cy="10578984"/>
          </a:xfrm>
          <a:custGeom>
            <a:avLst/>
            <a:gdLst/>
            <a:ahLst/>
            <a:cxnLst/>
            <a:rect r="r" b="b" t="t" l="l"/>
            <a:pathLst>
              <a:path h="10578984" w="7485465">
                <a:moveTo>
                  <a:pt x="0" y="0"/>
                </a:moveTo>
                <a:lnTo>
                  <a:pt x="7485465" y="0"/>
                </a:lnTo>
                <a:lnTo>
                  <a:pt x="7485465" y="10578984"/>
                </a:lnTo>
                <a:lnTo>
                  <a:pt x="0" y="10578984"/>
                </a:lnTo>
                <a:lnTo>
                  <a:pt x="0" y="0"/>
                </a:lnTo>
                <a:close/>
              </a:path>
            </a:pathLst>
          </a:custGeom>
          <a:blipFill>
            <a:blip r:embed="rId2"/>
            <a:stretch>
              <a:fillRect l="0" t="0" r="0" b="0"/>
            </a:stretch>
          </a:blipFill>
        </p:spPr>
      </p:sp>
      <p:sp>
        <p:nvSpPr>
          <p:cNvPr name="Freeform 3" id="3"/>
          <p:cNvSpPr/>
          <p:nvPr/>
        </p:nvSpPr>
        <p:spPr>
          <a:xfrm flipH="false" flipV="false" rot="0">
            <a:off x="3007101" y="343769"/>
            <a:ext cx="1837991" cy="1643749"/>
          </a:xfrm>
          <a:custGeom>
            <a:avLst/>
            <a:gdLst/>
            <a:ahLst/>
            <a:cxnLst/>
            <a:rect r="r" b="b" t="t" l="l"/>
            <a:pathLst>
              <a:path h="1643749" w="1837991">
                <a:moveTo>
                  <a:pt x="0" y="0"/>
                </a:moveTo>
                <a:lnTo>
                  <a:pt x="1837991" y="0"/>
                </a:lnTo>
                <a:lnTo>
                  <a:pt x="1837991" y="1643749"/>
                </a:lnTo>
                <a:lnTo>
                  <a:pt x="0" y="1643749"/>
                </a:lnTo>
                <a:lnTo>
                  <a:pt x="0" y="0"/>
                </a:lnTo>
                <a:close/>
              </a:path>
            </a:pathLst>
          </a:custGeom>
          <a:blipFill>
            <a:blip r:embed="rId3"/>
            <a:stretch>
              <a:fillRect l="0" t="-5908" r="0" b="-5908"/>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DAHAOSl5nns</dc:identifier>
  <dcterms:modified xsi:type="dcterms:W3CDTF">2011-08-01T06:04:30Z</dcterms:modified>
  <cp:revision>1</cp:revision>
  <dc:title>Yellow and Blue Modern Logistics Company Profile A4 Document</dc:title>
</cp:coreProperties>
</file>